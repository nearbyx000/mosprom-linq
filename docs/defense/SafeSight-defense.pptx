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ab628d77e94ce3" /><Relationship Type="http://schemas.openxmlformats.org/officeDocument/2006/relationships/extended-properties" Target="/docProps/app.xml" Id="R6af2ea02976347a5" /><Relationship Type="http://schemas.openxmlformats.org/officeDocument/2006/relationships/officeDocument" Target="/ppt/presentation.xml" Id="Ra1a1f50443f941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a3e06d816b467c"/>
  </p:sldMasterIdLst>
  <p:notesMasterIdLst>
    <p:notesMasterId xmlns:r="http://schemas.openxmlformats.org/officeDocument/2006/relationships" r:id="R55d24a7d256745a5"/>
  </p:notesMasterIdLst>
  <p:sldIdLst>
    <p:sldId xmlns:r="http://schemas.openxmlformats.org/officeDocument/2006/relationships" id="256" r:id="R69d60dc934864598"/>
    <p:sldId xmlns:r="http://schemas.openxmlformats.org/officeDocument/2006/relationships" id="257" r:id="R38b88482d9be4b28"/>
    <p:sldId xmlns:r="http://schemas.openxmlformats.org/officeDocument/2006/relationships" id="258" r:id="R1c351ec68b9242ae"/>
    <p:sldId xmlns:r="http://schemas.openxmlformats.org/officeDocument/2006/relationships" id="259" r:id="Rd216ec2ec1d74730"/>
    <p:sldId xmlns:r="http://schemas.openxmlformats.org/officeDocument/2006/relationships" id="260" r:id="R9e106091dd01480f"/>
    <p:sldId xmlns:r="http://schemas.openxmlformats.org/officeDocument/2006/relationships" id="261" r:id="Rbd60bb5d4cb74e57"/>
    <p:sldId xmlns:r="http://schemas.openxmlformats.org/officeDocument/2006/relationships" id="262" r:id="R84599808776f43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424096139b4217" /><Relationship Type="http://schemas.openxmlformats.org/officeDocument/2006/relationships/slideMaster" Target="/ppt/slideMasters/slideMaster1.xml" Id="R54a3e06d816b467c" /><Relationship Type="http://schemas.openxmlformats.org/officeDocument/2006/relationships/notesMaster" Target="/ppt/notesMasters/notesMaster1.xml" Id="R55d24a7d256745a5" /><Relationship Type="http://schemas.openxmlformats.org/officeDocument/2006/relationships/presProps" Target="/ppt/presProps.xml" Id="R761be2178a684ba7" /><Relationship Type="http://schemas.openxmlformats.org/officeDocument/2006/relationships/tableStyles" Target="/ppt/tableStyles.xml" Id="R1db6ffdd719e4064" /><Relationship Type="http://schemas.openxmlformats.org/officeDocument/2006/relationships/slide" Target="/ppt/slides/slide1.xml" Id="R69d60dc934864598" /><Relationship Type="http://schemas.openxmlformats.org/officeDocument/2006/relationships/slide" Target="/ppt/slides/slide2.xml" Id="R38b88482d9be4b28" /><Relationship Type="http://schemas.openxmlformats.org/officeDocument/2006/relationships/slide" Target="/ppt/slides/slide3.xml" Id="R1c351ec68b9242ae" /><Relationship Type="http://schemas.openxmlformats.org/officeDocument/2006/relationships/slide" Target="/ppt/slides/slide4.xml" Id="Rd216ec2ec1d74730" /><Relationship Type="http://schemas.openxmlformats.org/officeDocument/2006/relationships/slide" Target="/ppt/slides/slide5.xml" Id="R9e106091dd01480f" /><Relationship Type="http://schemas.openxmlformats.org/officeDocument/2006/relationships/slide" Target="/ppt/slides/slide6.xml" Id="Rbd60bb5d4cb74e57" /><Relationship Type="http://schemas.openxmlformats.org/officeDocument/2006/relationships/slide" Target="/ppt/slides/slide7.xml" Id="R84599808776f43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662e19bad344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e673568b7d44f4" /><Relationship Type="http://schemas.openxmlformats.org/officeDocument/2006/relationships/notesMaster" Target="/ppt/notesMasters/notesMaster1.xml" Id="R482e2fbd12544a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63679a1e594400" /><Relationship Type="http://schemas.openxmlformats.org/officeDocument/2006/relationships/notesMaster" Target="/ppt/notesMasters/notesMaster1.xml" Id="Rf6549373949743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ef865d353d4c05" /><Relationship Type="http://schemas.openxmlformats.org/officeDocument/2006/relationships/notesMaster" Target="/ppt/notesMasters/notesMaster1.xml" Id="Red43ea1bb5f44d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df210c909e4f6d" /><Relationship Type="http://schemas.openxmlformats.org/officeDocument/2006/relationships/notesMaster" Target="/ppt/notesMasters/notesMaster1.xml" Id="R63ebf6d630be4f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62d8a7b69843ea" /><Relationship Type="http://schemas.openxmlformats.org/officeDocument/2006/relationships/notesMaster" Target="/ppt/notesMasters/notesMaster1.xml" Id="Rcbadcb24a79742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6200d07c174671" /><Relationship Type="http://schemas.openxmlformats.org/officeDocument/2006/relationships/notesMaster" Target="/ppt/notesMasters/notesMaster1.xml" Id="Re88c5e0fc5f74d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b4c7f0aff541de" /><Relationship Type="http://schemas.openxmlformats.org/officeDocument/2006/relationships/notesMaster" Target="/ppt/notesMasters/notesMaster1.xml" Id="Rc9d0466226c64e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README.md, docs/BUSINESS_CASE.md. Проверяемый пилот одной камеры, версия 0.3. Не заявлять production/SLA или гарантированное предотвращение травм.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safesight/static/, docs/DEFENSE.md. Скриншот собственного приложения в DEMO, не промышленная камера. В demo — цветовые фигуры и 2 Гц анализа; в LinQ — удалённый аппаратный путь. FPS preview не равен FPS инференса.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safesight/evidence.py, storage.py, exports.py, docs/RUNBOOK.md. JPEG + SHA256, timestamp захвата, frame/generation/source. Review хранится append-only, отдельно от исходного события; ручной review не является автоматическим измерением recall.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docs/ARCHITECTURE.md; safesight/pipeline.py, dual_gateway.py, safety.py, logic.py, evidence.py. Метрики/автотесты не доказывают работу удалённого TPU в текущей сети.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docs/INTERNET20_RESULTS.md; docs/reports/safetyvision_internet20.json. Интернет-источники: https://docs.ultralytics.com/datasets/detect/construction-ppe ; https://www.kaggle.com/datasets/uttejkumarkandagatla/fall-detection-dataset . На всех 20 выполнены обе ONNX модели; person score по 19 после предынференсной проверки GT, один неполно размеченный crowd исключён. Данные не независимый benchmark; пересечение train неизвестно.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docs/reports/safetyvision_after_rules.json, tests/fixtures/safetyvision_baseline_events.json; 16 синтетических сценариев, 8 истинных эпизодов в 7 положительных случаях. Python 108 passed в рабочем и чистом окружениях, JS 9 passed. Это регрессия логики, не neural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docs/BUSINESS_CASE.md, docs/MODEL_EXPERIMENTS.md, docs/SAFETYVISION_EVALUATION.md. Экономический эффект не измерен; нет обещаний ROI/SLA, HA/RBAC/SSO и сертификации. Нужны согласованная видеоразметка, права на веса/данные и независимая оценка.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b3646654de480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4031b3e99b4f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7a2f0986864c5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2dabdbffe243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4f5918108d46f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56e1e2482f45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302BFD-CE53-4F93-B94D-0791DC9C41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3486173-7FD9-4521-8826-30B9927C54C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AE96320-00B1-4EEE-AB90-E1291BD463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FBE86E-E17D-45A8-BDF5-9430FE9975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C0508D3-9A76-4950-A91D-E990DFF81C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3334B17-687F-455C-806C-891D40873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7A6DC4-7984-49C9-83FD-66DF09C8F2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39DC394-AA1B-448C-9EFF-B2BBB13F2C2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6AF22D-FC58-4BD2-89C4-6E037757AD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204DE5-4BE0-4133-8EC0-12D3CA8F4F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8b3de5c6944470" /><Relationship Type="http://schemas.openxmlformats.org/officeDocument/2006/relationships/slideLayout" Target="/ppt/slideLayouts/slideLayout1.xml" Id="Rbe75f4456b16413e" /><Relationship Type="http://schemas.openxmlformats.org/officeDocument/2006/relationships/slideLayout" Target="/ppt/slideLayouts/slideLayout2.xml" Id="R4e4ced0d05354ee9" /><Relationship Type="http://schemas.openxmlformats.org/officeDocument/2006/relationships/slideLayout" Target="/ppt/slideLayouts/slideLayout3.xml" Id="R7e52a51d70564449" /><Relationship Type="http://schemas.openxmlformats.org/officeDocument/2006/relationships/slideLayout" Target="/ppt/slideLayouts/slideLayout4.xml" Id="Rc18658f500914e80" /><Relationship Type="http://schemas.openxmlformats.org/officeDocument/2006/relationships/slideLayout" Target="/ppt/slideLayouts/slideLayout5.xml" Id="R51aa2fb4d67a4d16" /><Relationship Type="http://schemas.openxmlformats.org/officeDocument/2006/relationships/slideLayout" Target="/ppt/slideLayouts/slideLayout6.xml" Id="Raa4fcdbd6fd34e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75f4456b16413e"/>
    <p:sldLayoutId xmlns:r="http://schemas.openxmlformats.org/officeDocument/2006/relationships" id="2147483650" r:id="R4e4ced0d05354ee9"/>
    <p:sldLayoutId xmlns:r="http://schemas.openxmlformats.org/officeDocument/2006/relationships" id="2147483651" r:id="R7e52a51d70564449"/>
    <p:sldLayoutId xmlns:r="http://schemas.openxmlformats.org/officeDocument/2006/relationships" id="2147483652" r:id="Rc18658f500914e80"/>
    <p:sldLayoutId xmlns:r="http://schemas.openxmlformats.org/officeDocument/2006/relationships" id="2147483653" r:id="R51aa2fb4d67a4d16"/>
    <p:sldLayoutId xmlns:r="http://schemas.openxmlformats.org/officeDocument/2006/relationships" id="2147483654" r:id="Raa4fcdbd6fd34e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936d2a236349c7" /><Relationship Type="http://schemas.openxmlformats.org/officeDocument/2006/relationships/notesSlide" Target="/ppt/notesSlides/notesSlide1.xml" Id="Red8d68f458f24c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9ae8ef5ac34adb" /><Relationship Type="http://schemas.openxmlformats.org/officeDocument/2006/relationships/image" Target="/ppt/media/image.jpeg" Id="R884c1578a87e4488" /><Relationship Type="http://schemas.openxmlformats.org/officeDocument/2006/relationships/notesSlide" Target="/ppt/notesSlides/notesSlide2.xml" Id="Rb8660abfe5554d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900c8675c14420" /><Relationship Type="http://schemas.openxmlformats.org/officeDocument/2006/relationships/image" Target="/ppt/media/image2.jpeg" Id="Rb448096ef0214e51" /><Relationship Type="http://schemas.openxmlformats.org/officeDocument/2006/relationships/notesSlide" Target="/ppt/notesSlides/notesSlide3.xml" Id="R15fb6dfc005e4a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0593282a75499e" /><Relationship Type="http://schemas.openxmlformats.org/officeDocument/2006/relationships/notesSlide" Target="/ppt/notesSlides/notesSlide4.xml" Id="R573ab695b8d644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f83f77e22e4a9c" /><Relationship Type="http://schemas.openxmlformats.org/officeDocument/2006/relationships/notesSlide" Target="/ppt/notesSlides/notesSlide5.xml" Id="R9c30a902b22b41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063e627a0f4d0d" /><Relationship Type="http://schemas.openxmlformats.org/officeDocument/2006/relationships/notesSlide" Target="/ppt/notesSlides/notesSlide6.xml" Id="R783d02dcdbf34c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831d1657104cca" /><Relationship Type="http://schemas.openxmlformats.org/officeDocument/2006/relationships/notesSlide" Target="/ppt/notesSlides/notesSlide7.xml" Id="Rf924b5e31e1b46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896D7-8AED-45A2-9FCD-8D5B1F3B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4EBF3"/>
                </a:solidFill>
                <a:latin typeface="Arial"/>
                <a:ea typeface="Arial"/>
                <a:cs typeface="Arial"/>
              </a:rPr>
              <a:t>SafeSight / LinQ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8911D-FAD1-451D-AEEF-A2F6555C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28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defPPr>
            <a:lvl1pPr>
              <a:defRPr sz="43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E4EBF3"/>
                </a:solidFill>
                <a:latin typeface="Arial"/>
                <a:ea typeface="Arial"/>
                <a:cs typeface="Arial"/>
              </a:rPr>
              <a:t>Операторский контроль</a:t>
            </a:r>
          </a:p>
          <a:p xmlns:a="http://schemas.openxmlformats.org/drawingml/2006/main">
            <a:pPr>
              <a:defRPr sz="43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E4EBF3"/>
                </a:solidFill>
                <a:latin typeface="Arial"/>
                <a:ea typeface="Arial"/>
                <a:cs typeface="Arial"/>
              </a:rPr>
              <a:t>промышленной безопасности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8AA53-188B-4E65-8236-0069ED3C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EE8BA"/>
                </a:solidFill>
                <a:latin typeface="Arial"/>
                <a:ea typeface="Arial"/>
                <a:cs typeface="Arial"/>
              </a:rPr>
              <a:t>Видео · опасные зоны · журнал с доказательными кадрами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FE7C1-4ADF-47CB-AF45-95C24045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4B4C6"/>
                </a:solidFill>
                <a:latin typeface="Arial"/>
                <a:ea typeface="Arial"/>
                <a:cs typeface="Arial"/>
              </a:rPr>
              <a:t>Пилот одной камеры  /  25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4155446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AB2DFC-C1C9-4AC5-8868-88E43376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4EBF3"/>
                </a:solidFill>
                <a:latin typeface="Arial"/>
                <a:ea typeface="Arial"/>
                <a:cs typeface="Arial"/>
              </a:rPr>
              <a:t>Рабочее место оператора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ACC86-3D19-4BD8-9733-45AD4B9A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571875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4EBF3"/>
                </a:solidFill>
                <a:latin typeface="Arial"/>
                <a:ea typeface="Arial"/>
                <a:cs typeface="Arial"/>
              </a:rPr>
              <a:t>Непрерывное видео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4EBF3"/>
                </a:solidFill>
                <a:latin typeface="Arial"/>
                <a:ea typeface="Arial"/>
                <a:cs typeface="Arial"/>
              </a:rPr>
              <a:t>Зоны и свежие рамки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4EBF3"/>
                </a:solidFill>
                <a:latin typeface="Arial"/>
                <a:ea typeface="Arial"/>
                <a:cs typeface="Arial"/>
              </a:rPr>
              <a:t>Warns: события сейчас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4EBF3"/>
                </a:solidFill>
                <a:latin typeface="Arial"/>
                <a:ea typeface="Arial"/>
                <a:cs typeface="Arial"/>
              </a:rPr>
              <a:t>Backlog: история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86FAD-1480-4E9D-9726-23285128E6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c1578a87e4488"/>
          <a:stretch xmlns:a="http://schemas.openxmlformats.org/drawingml/2006/main"/>
        </p:blipFill>
        <p:spPr>
          <a:xfrm xmlns:a="http://schemas.openxmlformats.org/drawingml/2006/main">
            <a:off x="4381500" y="1659677"/>
            <a:ext cx="7200900" cy="405299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E1A95-EE63-4591-8713-7C2AF2A9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C56A"/>
                </a:solidFill>
                <a:latin typeface="Arial"/>
                <a:ea typeface="Arial"/>
                <a:cs typeface="Arial"/>
              </a:rPr>
              <a:t>На экране — DEMO. Нейросеть и TPU в этом сценарии не используются.</a:t>
            </a:r>
          </a:p>
        </p:txBody>
      </p:sp>
    </p:spTree>
    <p:extLst>
      <p:ext uri="{BB962C8B-B14F-4D97-AF65-F5344CB8AC3E}">
        <p14:creationId xmlns:p14="http://schemas.microsoft.com/office/powerpoint/2010/main" val="3167002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8ECA3-7C41-4A7A-8002-87C81E3F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4EBF3"/>
                </a:solidFill>
                <a:latin typeface="Arial"/>
                <a:ea typeface="Arial"/>
                <a:cs typeface="Arial"/>
              </a:rPr>
              <a:t>Проверка и разбор события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77174-7CA3-49F0-B392-277FD661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429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4EBF3"/>
                </a:solidFill>
                <a:latin typeface="Arial"/>
                <a:ea typeface="Arial"/>
                <a:cs typeface="Arial"/>
              </a:rPr>
              <a:t>Сохранённый JPEG</a:t>
            </a:r>
          </a:p>
          <a:p xmlns:a="http://schemas.openxmlformats.org/drawingml/2006/main">
            <a: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4EBF3"/>
                </a:solidFill>
                <a:latin typeface="Arial"/>
                <a:ea typeface="Arial"/>
                <a:cs typeface="Arial"/>
              </a:rPr>
              <a:t>и источник события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4EBF3"/>
                </a:solidFill>
                <a:latin typeface="Arial"/>
                <a:ea typeface="Arial"/>
                <a:cs typeface="Arial"/>
              </a:rPr>
              <a:t>Отметка оператора</a:t>
            </a:r>
          </a:p>
          <a:p xmlns:a="http://schemas.openxmlformats.org/drawingml/2006/main">
            <a: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4EBF3"/>
                </a:solidFill>
                <a:latin typeface="Arial"/>
                <a:ea typeface="Arial"/>
                <a:cs typeface="Arial"/>
              </a:rPr>
              <a:t>с историей решений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4EBF3"/>
                </a:solidFill>
                <a:latin typeface="Arial"/>
                <a:ea typeface="Arial"/>
                <a:cs typeface="Arial"/>
              </a:rPr>
              <a:t>Фильтры и CSV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29B8E-2660-41D7-84A6-B53CA62228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48096ef0214e51"/>
          <a:stretch xmlns:a="http://schemas.openxmlformats.org/drawingml/2006/main"/>
        </p:blipFill>
        <p:spPr>
          <a:xfrm xmlns:a="http://schemas.openxmlformats.org/drawingml/2006/main">
            <a:off x="4191000" y="1653691"/>
            <a:ext cx="7391400" cy="416021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8D8DD-338A-4DC3-A127-0CD5544E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EE8BA"/>
                </a:solidFill>
                <a:latin typeface="Arial"/>
                <a:ea typeface="Arial"/>
                <a:cs typeface="Arial"/>
              </a:rPr>
              <a:t>При временном отказе SQLite событие восстанавливается из дисковой очереди.</a:t>
            </a:r>
          </a:p>
        </p:txBody>
      </p:sp>
    </p:spTree>
    <p:extLst>
      <p:ext uri="{BB962C8B-B14F-4D97-AF65-F5344CB8AC3E}">
        <p14:creationId xmlns:p14="http://schemas.microsoft.com/office/powerpoint/2010/main" val="13524860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D97E2-5C75-4507-99F9-B22ECCD1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4EBF3"/>
                </a:solidFill>
                <a:latin typeface="Arial"/>
                <a:ea typeface="Arial"/>
                <a:cs typeface="Arial"/>
              </a:rPr>
              <a:t>Надёжность контура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8B5B0-6082-4820-B5B3-4779AC0BCDC8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6972300"/>
              </a:tblGrid>
              <a:tr h="6572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EE8BA"/>
                          </a:solidFill>
                          <a:latin typeface="Arial"/>
                          <a:ea typeface="Arial"/>
                          <a:cs typeface="Arial"/>
                        </a:rPr>
                        <a:t>Условие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T w="9525">
                      <a:solidFill>
                        <a:srgbClr val="344659"/>
                      </a:solidFill>
                      <a:prstDash val="solid"/>
                    </a:lnT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EE8BA"/>
                          </a:solidFill>
                          <a:latin typeface="Arial"/>
                          <a:ea typeface="Arial"/>
                          <a:cs typeface="Arial"/>
                        </a:rPr>
                        <a:t>Поведение системы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T w="9525">
                      <a:solidFill>
                        <a:srgbClr val="344659"/>
                      </a:solidFill>
                      <a:prstDash val="solid"/>
                    </a:lnT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TPU или SQLite отвечает медленно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Видео продолжает обновляться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Ответ относится к старому кадру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 отбрасывается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SafetyVision не ответила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СИЗ = неизвестно; YOLOv8n продолжает работу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Каска и no-helmet противоречат друг другу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Сопоставление с человеком; неоднозначность не даёт тревогу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Одиночная подозрительная детекция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Повторное подтверждение по наблюдениям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C33B9-C57A-4287-9ED7-0B0B7D7A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EE8BA"/>
                </a:solidFill>
                <a:latin typeface="Arial"/>
                <a:ea typeface="Arial"/>
                <a:cs typeface="Arial"/>
              </a:rPr>
              <a:t>Рабочие TPU-программы и routes сохранены. Локальной подмены в LinQ нет.</a:t>
            </a:r>
          </a:p>
        </p:txBody>
      </p:sp>
    </p:spTree>
    <p:extLst>
      <p:ext uri="{BB962C8B-B14F-4D97-AF65-F5344CB8AC3E}">
        <p14:creationId xmlns:p14="http://schemas.microsoft.com/office/powerpoint/2010/main" val="1719952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5A04B-E1D6-4945-8F35-1F31FF1C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4EBF3"/>
                </a:solidFill>
                <a:latin typeface="Arial"/>
                <a:ea typeface="Arial"/>
                <a:cs typeface="Arial"/>
              </a:rPr>
              <a:t>Диагностика на 20 изображениях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2DE04-5346-4A97-9A9E-B5D3A418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7EE8B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EE8BA"/>
                </a:solidFill>
                <a:latin typeface="Arial"/>
                <a:ea typeface="Arial"/>
                <a:cs typeface="Arial"/>
              </a:rPr>
              <a:t>LOCAL ONNX CPU · строгие рамки IoU ≥ 0.50 · не TPU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AD57C-9A5A-4869-88EA-2216457683F6}"/>
              </a:ext>
            </a:extLst>
          </p:cNvPr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62375"/>
                <a:gridCol w="952500"/>
                <a:gridCol w="2114550"/>
                <a:gridCol w="1381125"/>
                <a:gridCol w="1381125"/>
                <a:gridCol w="1381125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7EE8BA"/>
                          </a:solidFill>
                          <a:latin typeface="Arial"/>
                          <a:ea typeface="Arial"/>
                          <a:cs typeface="Arial"/>
                        </a:rPr>
                        <a:t>Модель / класс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T w="9525">
                      <a:solidFill>
                        <a:srgbClr val="344659"/>
                      </a:solidFill>
                      <a:prstDash val="solid"/>
                    </a:lnT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7EE8BA"/>
                          </a:solidFill>
                          <a:latin typeface="Arial"/>
                          <a:ea typeface="Arial"/>
                          <a:cs typeface="Arial"/>
                        </a:rPr>
                        <a:t>Кадры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T w="9525">
                      <a:solidFill>
                        <a:srgbClr val="344659"/>
                      </a:solidFill>
                      <a:prstDash val="solid"/>
                    </a:lnT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7EE8BA"/>
                          </a:solidFill>
                          <a:latin typeface="Arial"/>
                          <a:ea typeface="Arial"/>
                          <a:cs typeface="Arial"/>
                        </a:rPr>
                        <a:t>TP / FP / FN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T w="9525">
                      <a:solidFill>
                        <a:srgbClr val="344659"/>
                      </a:solidFill>
                      <a:prstDash val="solid"/>
                    </a:lnT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7EE8BA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T w="9525">
                      <a:solidFill>
                        <a:srgbClr val="344659"/>
                      </a:solidFill>
                      <a:prstDash val="solid"/>
                    </a:lnT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7EE8BA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T w="9525">
                      <a:solidFill>
                        <a:srgbClr val="344659"/>
                      </a:solidFill>
                      <a:prstDash val="solid"/>
                    </a:lnT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7EE8BA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T w="9525">
                      <a:solidFill>
                        <a:srgbClr val="344659"/>
                      </a:solidFill>
                      <a:prstDash val="solid"/>
                    </a:lnT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YOLOv8n / человек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25 / 2 / 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0.926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0.806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0.862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SafetyVision / каска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8 / 0 / 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0.800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0.889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SafetyVision / без каски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0 / 1 / 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SafetyVision / падение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4 / 0 / 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0.800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0.889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B8724-9EA3-4C7D-881C-910BD015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C56A"/>
                </a:solidFill>
                <a:latin typeface="Arial"/>
                <a:ea typeface="Arial"/>
                <a:cs typeface="Arial"/>
              </a:rPr>
              <a:t>По наличию класса на изображении: без каски 1 из 5; падение 4 из 5.</a:t>
            </a:r>
          </a:p>
          <a:p xmlns:a="http://schemas.openxmlformats.org/drawingml/2006/main">
            <a:pPr>
              <a:defRPr sz="1875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C56A"/>
                </a:solidFill>
                <a:latin typeface="Arial"/>
                <a:ea typeface="Arial"/>
                <a:cs typeface="Arial"/>
              </a:rPr>
              <a:t>На пяти отрицательных кадрах каждого сценария FP = 0. Это не видеотревоги.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D3FA4-F4EB-4644-9132-45ADC914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A4B4C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4B4C6"/>
                </a:solidFill>
                <a:latin typeface="Arial"/>
                <a:ea typeface="Arial"/>
                <a:cs typeface="Arial"/>
              </a:rPr>
              <a:t>Малая диагностическая выборка. Новых аппаратных метрик нет: AMQP handshake не прошёл.</a:t>
            </a:r>
          </a:p>
        </p:txBody>
      </p:sp>
    </p:spTree>
    <p:extLst>
      <p:ext uri="{BB962C8B-B14F-4D97-AF65-F5344CB8AC3E}">
        <p14:creationId xmlns:p14="http://schemas.microsoft.com/office/powerpoint/2010/main" val="9965936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3C680-3CB4-4489-A69E-56F8C45C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4EBF3"/>
                </a:solidFill>
                <a:latin typeface="Arial"/>
                <a:ea typeface="Arial"/>
                <a:cs typeface="Arial"/>
              </a:rPr>
              <a:t>Проверка исправлений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DE04D-92D9-4E29-A13F-102955EC584D}"/>
              </a:ext>
            </a:extLst>
          </p:cNvPr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2762250"/>
                <a:gridCol w="2781300"/>
              </a:tblGrid>
              <a:tr h="666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7EE8BA"/>
                          </a:solidFill>
                          <a:latin typeface="Arial"/>
                          <a:ea typeface="Arial"/>
                          <a:cs typeface="Arial"/>
                        </a:rPr>
                        <a:t>Синтетические правила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T w="9525">
                      <a:solidFill>
                        <a:srgbClr val="344659"/>
                      </a:solidFill>
                      <a:prstDash val="solid"/>
                    </a:lnT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7EE8BA"/>
                          </a:solidFill>
                          <a:latin typeface="Arial"/>
                          <a:ea typeface="Arial"/>
                          <a:cs typeface="Arial"/>
                        </a:rPr>
                        <a:t>До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T w="9525">
                      <a:solidFill>
                        <a:srgbClr val="344659"/>
                      </a:solidFill>
                      <a:prstDash val="solid"/>
                    </a:lnT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7EE8BA"/>
                          </a:solidFill>
                          <a:latin typeface="Arial"/>
                          <a:ea typeface="Arial"/>
                          <a:cs typeface="Arial"/>
                        </a:rPr>
                        <a:t>После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T w="9525">
                      <a:solidFill>
                        <a:srgbClr val="344659"/>
                      </a:solidFill>
                      <a:prstDash val="solid"/>
                    </a:lnT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TP / FP / FN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6 / 7 / 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8 / 0 / 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Precision / Recall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0.462 / 0.750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1.000 / 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0.571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A7E5D-B6B3-4F69-8ADD-109F9C9E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EE8B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7EE8B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7EE8B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7EE8B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7EE8B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7EE8B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7EE8B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7EE8B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7EE8B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7EE8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EE8B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EE8BA"/>
                </a:solidFill>
                <a:latin typeface="Arial"/>
                <a:ea typeface="Arial"/>
                <a:cs typeface="Arial"/>
              </a:rPr>
              <a:t>108 Python-тестов + 9 JavaScript-тестов</a:t>
            </a:r>
          </a:p>
          <a:p xmlns:a="http://schemas.openxmlformats.org/drawingml/2006/main">
            <a:pPr>
              <a:defRPr sz="2250" b="1">
                <a:solidFill>
                  <a:srgbClr val="7EE8B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EE8BA"/>
                </a:solidFill>
                <a:latin typeface="Arial"/>
                <a:ea typeface="Arial"/>
                <a:cs typeface="Arial"/>
              </a:rPr>
              <a:t>Запуск без моделей и SDK; браузерная проверка пульта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BC6F2-61B5-49DB-AC2C-ADF44D8E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C56A"/>
                </a:solidFill>
                <a:latin typeface="Arial"/>
                <a:ea typeface="Arial"/>
                <a:cs typeface="Arial"/>
              </a:rPr>
              <a:t>На 20 реальных снимках агрегатные метрики исходной модели не улучшились.</a:t>
            </a:r>
          </a:p>
          <a:p xmlns:a="http://schemas.openxmlformats.org/drawingml/2006/main">
            <a:pPr>
              <a:defRPr sz="1650" b="0">
                <a:solidFill>
                  <a:srgbClr val="FFC5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C56A"/>
                </a:solidFill>
                <a:latin typeface="Arial"/>
                <a:ea typeface="Arial"/>
                <a:cs typeface="Arial"/>
              </a:rPr>
              <a:t>Отдельный helmet-кандидат отклонён: PPE F1 0.378 против 0.516 у SafetyVision.</a:t>
            </a:r>
          </a:p>
        </p:txBody>
      </p:sp>
    </p:spTree>
    <p:extLst>
      <p:ext uri="{BB962C8B-B14F-4D97-AF65-F5344CB8AC3E}">
        <p14:creationId xmlns:p14="http://schemas.microsoft.com/office/powerpoint/2010/main" val="8329520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229D4-7217-4CC4-BB0E-FC0D771F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E4EBF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4EBF3"/>
                </a:solidFill>
                <a:latin typeface="Arial"/>
                <a:ea typeface="Arial"/>
                <a:cs typeface="Arial"/>
              </a:rPr>
              <a:t>План пилота на площадке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FD8CA-670D-4591-8E57-CE91FB3BDE19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877050"/>
              </a:tblGrid>
              <a:tr h="6286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7EE8BA"/>
                          </a:solidFill>
                          <a:latin typeface="Arial"/>
                          <a:ea typeface="Arial"/>
                          <a:cs typeface="Arial"/>
                        </a:rPr>
                        <a:t>Этап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T w="9525">
                      <a:solidFill>
                        <a:srgbClr val="344659"/>
                      </a:solidFill>
                      <a:prstDash val="solid"/>
                    </a:lnT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7EE8BA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 для решения о внедрении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T w="9525">
                      <a:solidFill>
                        <a:srgbClr val="344659"/>
                      </a:solidFill>
                      <a:prstDash val="solid"/>
                    </a:lnT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1. Одна камера, зоны и оператор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Согласованные сцены, регламент реакции и журнал проверок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2. СИЗ и падения на видео цеха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Recall по контрольным эпизодам; ложные тревоги на камеро-час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3. ONNX ↔ LinQ на одних входах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Парные raw-выходы; оценка квантования и калибровки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4. Решение о расширении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659"/>
                      </a:solidFill>
                      <a:prstDash val="solid"/>
                    </a:lnL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4EBF3"/>
                          </a:solidFill>
                          <a:latin typeface="Arial"/>
                          <a:ea typeface="Arial"/>
                          <a:cs typeface="Arial"/>
                        </a:rPr>
                        <a:t>Критерии качества, стоимость поддержки, доступ и хранение данных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659"/>
                      </a:solidFill>
                      <a:prstDash val="solid"/>
                    </a:lnR>
                    <a:lnB w="9525">
                      <a:solidFill>
                        <a:srgbClr val="344659"/>
                      </a:solidFill>
                      <a:prstDash val="solid"/>
                    </a:lnB>
                    <a:solidFill>
                      <a:srgbClr val="0B111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08B7C-B799-4B07-8093-A904A8E6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C56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FC56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FC56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FC56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FC56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FC56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FC56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FC56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FC56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FC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C56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C56A"/>
                </a:solidFill>
                <a:latin typeface="Arial"/>
                <a:ea typeface="Arial"/>
                <a:cs typeface="Arial"/>
              </a:rPr>
              <a:t>Приоритет: снизить пропуски отсутствия каски.</a:t>
            </a:r>
          </a:p>
          <a:p xmlns:a="http://schemas.openxmlformats.org/drawingml/2006/main">
            <a:pPr>
              <a:defRPr sz="2250" b="1">
                <a:solidFill>
                  <a:srgbClr val="FFC56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C56A"/>
                </a:solidFill>
                <a:latin typeface="Arial"/>
                <a:ea typeface="Arial"/>
                <a:cs typeface="Arial"/>
              </a:rPr>
              <a:t>Пилот СИЗ требует улучшения модели и независимой повторной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10805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2026-10-24T23:47:10.6560000Z</dcterms:created>
  <dcterms:modified xsi:type="dcterms:W3CDTF">2026-10-24T23:47:10.6560000Z</dcterms:modified>
</coreProperties>
</file>