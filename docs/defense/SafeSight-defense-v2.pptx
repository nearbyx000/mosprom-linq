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02efab06214499" /><Relationship Type="http://schemas.openxmlformats.org/officeDocument/2006/relationships/extended-properties" Target="/docProps/app.xml" Id="Rc759638a6a7b4b90" /><Relationship Type="http://schemas.openxmlformats.org/officeDocument/2006/relationships/officeDocument" Target="/ppt/presentation.xml" Id="Rb032e63bff8843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0ffdb174ee4535"/>
  </p:sldMasterIdLst>
  <p:notesMasterIdLst>
    <p:notesMasterId xmlns:r="http://schemas.openxmlformats.org/officeDocument/2006/relationships" r:id="R4d6fa8c0195641f6"/>
  </p:notesMasterIdLst>
  <p:sldIdLst>
    <p:sldId xmlns:r="http://schemas.openxmlformats.org/officeDocument/2006/relationships" id="256" r:id="Rd5784fe6f1654105"/>
    <p:sldId xmlns:r="http://schemas.openxmlformats.org/officeDocument/2006/relationships" id="257" r:id="Rf2d3c10805e14b6b"/>
    <p:sldId xmlns:r="http://schemas.openxmlformats.org/officeDocument/2006/relationships" id="258" r:id="R61636075f9d54fa6"/>
    <p:sldId xmlns:r="http://schemas.openxmlformats.org/officeDocument/2006/relationships" id="259" r:id="R22c1829b393a4c46"/>
    <p:sldId xmlns:r="http://schemas.openxmlformats.org/officeDocument/2006/relationships" id="260" r:id="R9b65d5dd77704e80"/>
    <p:sldId xmlns:r="http://schemas.openxmlformats.org/officeDocument/2006/relationships" id="261" r:id="R87c15c6cac674867"/>
    <p:sldId xmlns:r="http://schemas.openxmlformats.org/officeDocument/2006/relationships" id="262" r:id="Re9f930d185ae4f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a60d1f5d5e4893" /><Relationship Type="http://schemas.openxmlformats.org/officeDocument/2006/relationships/slideMaster" Target="/ppt/slideMasters/slideMaster1.xml" Id="R390ffdb174ee4535" /><Relationship Type="http://schemas.openxmlformats.org/officeDocument/2006/relationships/notesMaster" Target="/ppt/notesMasters/notesMaster1.xml" Id="R4d6fa8c0195641f6" /><Relationship Type="http://schemas.openxmlformats.org/officeDocument/2006/relationships/presProps" Target="/ppt/presProps.xml" Id="R872ac9405d88424e" /><Relationship Type="http://schemas.openxmlformats.org/officeDocument/2006/relationships/tableStyles" Target="/ppt/tableStyles.xml" Id="R2dc78e809ca743cb" /><Relationship Type="http://schemas.openxmlformats.org/officeDocument/2006/relationships/slide" Target="/ppt/slides/slide1.xml" Id="Rd5784fe6f1654105" /><Relationship Type="http://schemas.openxmlformats.org/officeDocument/2006/relationships/slide" Target="/ppt/slides/slide2.xml" Id="Rf2d3c10805e14b6b" /><Relationship Type="http://schemas.openxmlformats.org/officeDocument/2006/relationships/slide" Target="/ppt/slides/slide3.xml" Id="R61636075f9d54fa6" /><Relationship Type="http://schemas.openxmlformats.org/officeDocument/2006/relationships/slide" Target="/ppt/slides/slide4.xml" Id="R22c1829b393a4c46" /><Relationship Type="http://schemas.openxmlformats.org/officeDocument/2006/relationships/slide" Target="/ppt/slides/slide5.xml" Id="R9b65d5dd77704e80" /><Relationship Type="http://schemas.openxmlformats.org/officeDocument/2006/relationships/slide" Target="/ppt/slides/slide6.xml" Id="R87c15c6cac674867" /><Relationship Type="http://schemas.openxmlformats.org/officeDocument/2006/relationships/slide" Target="/ppt/slides/slide7.xml" Id="Re9f930d185ae4f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28e7052a0b4b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338888b6de4c18" /><Relationship Type="http://schemas.openxmlformats.org/officeDocument/2006/relationships/notesMaster" Target="/ppt/notesMasters/notesMaster1.xml" Id="Re28135ab1c4541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85b1255a2d4663" /><Relationship Type="http://schemas.openxmlformats.org/officeDocument/2006/relationships/notesMaster" Target="/ppt/notesMasters/notesMaster1.xml" Id="R4e0f6e29fd914d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10fb8574854691" /><Relationship Type="http://schemas.openxmlformats.org/officeDocument/2006/relationships/notesMaster" Target="/ppt/notesMasters/notesMaster1.xml" Id="R20d45c211a134b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bd975213464c48" /><Relationship Type="http://schemas.openxmlformats.org/officeDocument/2006/relationships/notesMaster" Target="/ppt/notesMasters/notesMaster1.xml" Id="R2eb7674cc91447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56a95218504d61" /><Relationship Type="http://schemas.openxmlformats.org/officeDocument/2006/relationships/notesMaster" Target="/ppt/notesMasters/notesMaster1.xml" Id="R4f26b3d9e83f46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d874e1871743a3" /><Relationship Type="http://schemas.openxmlformats.org/officeDocument/2006/relationships/notesMaster" Target="/ppt/notesMasters/notesMaster1.xml" Id="Rb958ab255dc444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96d49411bd4312" /><Relationship Type="http://schemas.openxmlformats.org/officeDocument/2006/relationships/notesMaster" Target="/ppt/notesMasters/notesMaster1.xml" Id="R521f3f0af39c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README.md, docs/BUSINESS_CASE.md. Проверяемый пилот одной камеры, версия 0.3. Не заявлять production/SLA или гарантированное предотвращение травм.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safesight/static/, docs/DEFENSE.md. Скриншот собственного приложения в DEMO, не промышленная камера. В demo — цветовые фигуры и 2 Гц анализа; в LinQ — удалённый аппаратный путь. FPS preview не равен FPS инференса.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safesight/evidence.py, storage.py, exports.py, docs/RUNBOOK.md. JPEG + SHA256, timestamp захвата, frame/generation/source. Review хранится append-only, отдельно от исходного события; ручной review не является автоматическим измерением recall.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docs/ARCHITECTURE.md; safesight/pipeline.py, dual_gateway.py, safety.py, logic.py, evidence.py. Метрики/автотесты не доказывают работу удалённого TPU в текущей сети.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docs/INTERNET20_RESULTS.md; docs/reports/safetyvision_internet20.json. Интернет-источники: https://docs.ultralytics.com/datasets/detect/construction-ppe ; https://www.kaggle.com/datasets/uttejkumarkandagatla/fall-detection-dataset . На всех 20 выполнены обе ONNX модели; person score по 19 после предынференсной проверки GT, один неполно размеченный crowd исключён. Данные не независимый benchmark; пересечение train неизвестно.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docs/reports/safetyvision_after_rules.json, tests/fixtures/safetyvision_baseline_events.json; 16 синтетических сценариев, 8 истинных эпизодов в 7 положительных случаях. Python 112 passed в рабочем и чистом окружениях, JS 9 passed. Это регрессия логики, не neural accuracy. Дополнительно проверена запись одного события при переполнении очереди: docs/reports/storage_backpressure.json.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docs/BUSINESS_CASE.md, docs/MODEL_EXPERIMENTS.md, docs/SAFETYVISION_EVALUATION.md. Экономический эффект не измерен; нет обещаний ROI/SLA, HA/RBAC/SSO и сертификации. Нужны согласованная видеоразметка, права на веса/данные и независимая оценка.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0e4d82bb846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5b50134c940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e280de36749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2c87af382b4c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09951478948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b521796694a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5C082E-70CA-4835-8271-301B51F3C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42D649-3E92-455B-9C41-BD5B2B445B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B59EC7-D359-4802-8E39-82EC79497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B8F5AA-CC56-4A6D-9443-8F47304C4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1791A8-E10A-4A84-B5BB-A49F7BA127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A2290B-6858-4EE3-A134-522AA9FD45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9595A2-D6BF-4F62-82CF-29C590EF0E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73CB6F-A03D-42D2-8C6D-568FCFA945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1BFD5B-D680-4BB0-8A3A-E52DE41A4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000EC1-A147-4CDD-9369-69DB4067C4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e89b3fa7fe42c6" /><Relationship Type="http://schemas.openxmlformats.org/officeDocument/2006/relationships/slideLayout" Target="/ppt/slideLayouts/slideLayout1.xml" Id="R8f05abb94c8640cd" /><Relationship Type="http://schemas.openxmlformats.org/officeDocument/2006/relationships/slideLayout" Target="/ppt/slideLayouts/slideLayout2.xml" Id="R39ccc15637a9422a" /><Relationship Type="http://schemas.openxmlformats.org/officeDocument/2006/relationships/slideLayout" Target="/ppt/slideLayouts/slideLayout3.xml" Id="R3a79c43cfeb04adb" /><Relationship Type="http://schemas.openxmlformats.org/officeDocument/2006/relationships/slideLayout" Target="/ppt/slideLayouts/slideLayout4.xml" Id="Rfdac854644144f82" /><Relationship Type="http://schemas.openxmlformats.org/officeDocument/2006/relationships/slideLayout" Target="/ppt/slideLayouts/slideLayout5.xml" Id="R3ce8fc6b176043ad" /><Relationship Type="http://schemas.openxmlformats.org/officeDocument/2006/relationships/slideLayout" Target="/ppt/slideLayouts/slideLayout6.xml" Id="R6859cfadfe7f4a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05abb94c8640cd"/>
    <p:sldLayoutId xmlns:r="http://schemas.openxmlformats.org/officeDocument/2006/relationships" id="2147483650" r:id="R39ccc15637a9422a"/>
    <p:sldLayoutId xmlns:r="http://schemas.openxmlformats.org/officeDocument/2006/relationships" id="2147483651" r:id="R3a79c43cfeb04adb"/>
    <p:sldLayoutId xmlns:r="http://schemas.openxmlformats.org/officeDocument/2006/relationships" id="2147483652" r:id="Rfdac854644144f82"/>
    <p:sldLayoutId xmlns:r="http://schemas.openxmlformats.org/officeDocument/2006/relationships" id="2147483653" r:id="R3ce8fc6b176043ad"/>
    <p:sldLayoutId xmlns:r="http://schemas.openxmlformats.org/officeDocument/2006/relationships" id="2147483654" r:id="R6859cfadfe7f4a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e8b14783047ba" /><Relationship Type="http://schemas.openxmlformats.org/officeDocument/2006/relationships/notesSlide" Target="/ppt/notesSlides/notesSlide1.xml" Id="Rff4449bc844e4e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4a5fd5b914be4" /><Relationship Type="http://schemas.openxmlformats.org/officeDocument/2006/relationships/image" Target="/ppt/media/image.jpeg" Id="R811d0e040b68412b" /><Relationship Type="http://schemas.openxmlformats.org/officeDocument/2006/relationships/notesSlide" Target="/ppt/notesSlides/notesSlide2.xml" Id="R5d31ff0bebc849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ca12d87021443b" /><Relationship Type="http://schemas.openxmlformats.org/officeDocument/2006/relationships/image" Target="/ppt/media/image2.jpeg" Id="R83a0de9c3a814ef8" /><Relationship Type="http://schemas.openxmlformats.org/officeDocument/2006/relationships/notesSlide" Target="/ppt/notesSlides/notesSlide3.xml" Id="R5ac1efb5a5f542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22df401ba4b3d" /><Relationship Type="http://schemas.openxmlformats.org/officeDocument/2006/relationships/notesSlide" Target="/ppt/notesSlides/notesSlide4.xml" Id="R99e7aa67bf4b4b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9d29dfd7d4aef" /><Relationship Type="http://schemas.openxmlformats.org/officeDocument/2006/relationships/notesSlide" Target="/ppt/notesSlides/notesSlide5.xml" Id="R2440945d600c44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0698433804047" /><Relationship Type="http://schemas.openxmlformats.org/officeDocument/2006/relationships/notesSlide" Target="/ppt/notesSlides/notesSlide6.xml" Id="Rf241995316304d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44ecfcb484c73" /><Relationship Type="http://schemas.openxmlformats.org/officeDocument/2006/relationships/notesSlide" Target="/ppt/notesSlides/notesSlide7.xml" Id="R9a1f6fb0be0b43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5F97D-CE35-4820-819F-52305E38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SafeSight / LinQ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286ED-A1B1-43EB-BB03-CF686468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Операторский контроль</a:t>
            </a:r>
          </a:p>
          <a:p xmlns:a="http://schemas.openxmlformats.org/drawingml/2006/main">
            <a: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промышленной безопасности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D64E8-7A13-4141-A5EE-85C4A2D2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EE8BA"/>
                </a:solidFill>
                <a:latin typeface="Arial"/>
                <a:ea typeface="Arial"/>
                <a:cs typeface="Arial"/>
              </a:rPr>
              <a:t>Видео · опасные зоны · журнал с доказательными кадрами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14ED1-5646-4EC7-B3AB-7DE2050C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4B4C6"/>
                </a:solidFill>
                <a:latin typeface="Arial"/>
                <a:ea typeface="Arial"/>
                <a:cs typeface="Arial"/>
              </a:rPr>
              <a:t>Пилот одной камеры  /  25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796256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F2EF0-C2B8-4A24-BC2A-E0C54B3E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Рабочее место оператора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C81CC-9510-4B8A-B779-13A5D2DF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7187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Непрерывное видео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Зоны и свежие рамки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Warns: события сейчас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Backlog: история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EDF03-EB70-4D76-ADBF-CA8FD67E5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d0e040b68412b"/>
          <a:stretch xmlns:a="http://schemas.openxmlformats.org/drawingml/2006/main"/>
        </p:blipFill>
        <p:spPr>
          <a:xfrm xmlns:a="http://schemas.openxmlformats.org/drawingml/2006/main">
            <a:off x="4381500" y="1659677"/>
            <a:ext cx="7200900" cy="405299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2B8F4-D6E7-4C92-8247-2727C28C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C56A"/>
                </a:solidFill>
                <a:latin typeface="Arial"/>
                <a:ea typeface="Arial"/>
                <a:cs typeface="Arial"/>
              </a:rPr>
              <a:t>На экране — DEMO. Нейросеть и TPU в этом сценарии не используются.</a:t>
            </a:r>
          </a:p>
        </p:txBody>
      </p:sp>
    </p:spTree>
    <p:extLst>
      <p:ext uri="{BB962C8B-B14F-4D97-AF65-F5344CB8AC3E}">
        <p14:creationId xmlns:p14="http://schemas.microsoft.com/office/powerpoint/2010/main" val="17020568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F0553-49E8-4D58-8F76-20907125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Проверка и разбор события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CDBCF-DAA4-4C48-BC70-EC7FA32C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29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Сохранённый JPEG</a:t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и источник события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Отметка оператора</a:t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с историей решений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Фильтры и CSV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137C7-4E77-4401-ADA3-0AB8C95AD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0de9c3a814ef8"/>
          <a:stretch xmlns:a="http://schemas.openxmlformats.org/drawingml/2006/main"/>
        </p:blipFill>
        <p:spPr>
          <a:xfrm xmlns:a="http://schemas.openxmlformats.org/drawingml/2006/main">
            <a:off x="4191000" y="1653691"/>
            <a:ext cx="7391400" cy="416021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EEA1F-D5C3-48D4-B075-BF36ACAC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EE8BA"/>
                </a:solidFill>
                <a:latin typeface="Arial"/>
                <a:ea typeface="Arial"/>
                <a:cs typeface="Arial"/>
              </a:rPr>
              <a:t>При временном отказе SQLite событие восстанавливается из дисковой очереди.</a:t>
            </a:r>
          </a:p>
        </p:txBody>
      </p:sp>
    </p:spTree>
    <p:extLst>
      <p:ext uri="{BB962C8B-B14F-4D97-AF65-F5344CB8AC3E}">
        <p14:creationId xmlns:p14="http://schemas.microsoft.com/office/powerpoint/2010/main" val="45333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160B7-532C-4D1B-B030-3438DBC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Надёжность контура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E4E85-E627-4E2E-AA53-A651E544C8CE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Условие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Поведение системы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TPU или SQLite отвечает медленно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Видео продолжает обновляться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Ответ относится к старому кадру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отбрасывается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SafetyVision не ответила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СИЗ = неизвестно; YOLOv8n продолжает работу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Каска и no-helmet противоречат друг другу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Сопоставление с человеком; неоднозначность не даёт тревогу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Одиночная подозрительная детекция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Повторное подтверждение по наблюдениям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00E47-FA08-4BDB-9F80-5963E044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EE8BA"/>
                </a:solidFill>
                <a:latin typeface="Arial"/>
                <a:ea typeface="Arial"/>
                <a:cs typeface="Arial"/>
              </a:rPr>
              <a:t>Рабочие TPU-программы и routes сохранены. Локальной подмены в LinQ нет.</a:t>
            </a:r>
          </a:p>
        </p:txBody>
      </p:sp>
    </p:spTree>
    <p:extLst>
      <p:ext uri="{BB962C8B-B14F-4D97-AF65-F5344CB8AC3E}">
        <p14:creationId xmlns:p14="http://schemas.microsoft.com/office/powerpoint/2010/main" val="1327582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8AA15-728E-4540-84CF-E87BADC2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Диагностика на 20 изображениях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DA559-F134-4805-8EED-6772B2D8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EE8BA"/>
                </a:solidFill>
                <a:latin typeface="Arial"/>
                <a:ea typeface="Arial"/>
                <a:cs typeface="Arial"/>
              </a:rPr>
              <a:t>LOCAL ONNX CPU · строгие рамки IoU ≥ 0.50 · не TPU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0194B-1278-4295-9D2D-DA7DDF9A88AF}"/>
              </a:ext>
            </a:extLst>
          </p:cNvPr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952500"/>
                <a:gridCol w="2114550"/>
                <a:gridCol w="1381125"/>
                <a:gridCol w="1381125"/>
                <a:gridCol w="1381125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Модель / класс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Кадры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TP / FP / FN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YOLOv8n / человек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25 / 2 / 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0.926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SafetyVision / каска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8 / 0 /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0.889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SafetyVision / без каски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 / 1 / 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SafetyVision / падение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4 / 0 /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0.889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77251-F6CD-42AA-A803-E3BEF7C9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C56A"/>
                </a:solidFill>
                <a:latin typeface="Arial"/>
                <a:ea typeface="Arial"/>
                <a:cs typeface="Arial"/>
              </a:rPr>
              <a:t>По наличию класса на изображении: без каски 1 из 5; падение 4 из 5.</a:t>
            </a:r>
          </a:p>
          <a:p xmlns:a="http://schemas.openxmlformats.org/drawingml/2006/main">
            <a: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C56A"/>
                </a:solidFill>
                <a:latin typeface="Arial"/>
                <a:ea typeface="Arial"/>
                <a:cs typeface="Arial"/>
              </a:rPr>
              <a:t>На пяти отрицательных кадрах каждого сценария FP = 0. Это не видеотревоги.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9DB6F-F3B0-4900-A890-F6A3C2D2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4B4C6"/>
                </a:solidFill>
                <a:latin typeface="Arial"/>
                <a:ea typeface="Arial"/>
                <a:cs typeface="Arial"/>
              </a:rPr>
              <a:t>Малая диагностическая выборка. Новых аппаратных метрик нет: AMQP handshake не прошёл.</a:t>
            </a:r>
          </a:p>
        </p:txBody>
      </p:sp>
    </p:spTree>
    <p:extLst>
      <p:ext uri="{BB962C8B-B14F-4D97-AF65-F5344CB8AC3E}">
        <p14:creationId xmlns:p14="http://schemas.microsoft.com/office/powerpoint/2010/main" val="1431120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743AB-2EA0-4401-94AC-7D372DCF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Проверка исправлений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3F0BB-499B-4A5C-8EA3-9D776EB3984B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762250"/>
                <a:gridCol w="2781300"/>
              </a:tblGrid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Синтетические правила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До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После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TP / FP / FN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6 / 7 /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8 / 0 /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Precision / Recall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0.462 / 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1.000 / 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0.571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D9C64-FF23-44A5-8695-3354845C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EE8BA"/>
                </a:solidFill>
                <a:latin typeface="Arial"/>
                <a:ea typeface="Arial"/>
                <a:cs typeface="Arial"/>
              </a:rPr>
              <a:t>112 Python-тестов + 9 JavaScript-тестов</a:t>
            </a:r>
          </a:p>
          <a:p xmlns:a="http://schemas.openxmlformats.org/drawingml/2006/main">
            <a: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EE8BA"/>
                </a:solidFill>
                <a:latin typeface="Arial"/>
                <a:ea typeface="Arial"/>
                <a:cs typeface="Arial"/>
              </a:rPr>
              <a:t>Запуск без моделей и SDK; браузерная проверка пульта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7DDB3-1CFE-4AB7-8FC9-A555EC1A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C56A"/>
                </a:solidFill>
                <a:latin typeface="Arial"/>
                <a:ea typeface="Arial"/>
                <a:cs typeface="Arial"/>
              </a:rPr>
              <a:t>На 20 реальных снимках агрегатные метрики исходной модели не улучшились.</a:t>
            </a:r>
          </a:p>
          <a:p xmlns:a="http://schemas.openxmlformats.org/drawingml/2006/main">
            <a: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C56A"/>
                </a:solidFill>
                <a:latin typeface="Arial"/>
                <a:ea typeface="Arial"/>
                <a:cs typeface="Arial"/>
              </a:rPr>
              <a:t>Отдельный helmet-кандидат отклонён: PPE F1 0.378 против 0.516 у SafetyVision.</a:t>
            </a:r>
          </a:p>
        </p:txBody>
      </p:sp>
    </p:spTree>
    <p:extLst>
      <p:ext uri="{BB962C8B-B14F-4D97-AF65-F5344CB8AC3E}">
        <p14:creationId xmlns:p14="http://schemas.microsoft.com/office/powerpoint/2010/main" val="521023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33D5F-E0C6-45FE-9BAB-51698F5D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План пилота на площадке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30051-81E8-474F-B000-91361C22510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28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для решения о внедрении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1. Одна камера, зоны и оператор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Согласованные сцены, регламент реакции и журнал проверок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2. СИЗ и падения на видео цеха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Recall по контрольным эпизодам; ложные тревоги на камеро-час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3. ONNX ↔ LinQ на одних входах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Парные raw-выходы; оценка квантования и калибровки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4. Решение о расширении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Критерии качества, стоимость поддержки, доступ и хранение данных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5C5DD-A2DA-41C1-A81D-9F4011D5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C56A"/>
                </a:solidFill>
                <a:latin typeface="Arial"/>
                <a:ea typeface="Arial"/>
                <a:cs typeface="Arial"/>
              </a:rPr>
              <a:t>Приоритет: снизить пропуски отсутствия каски.</a:t>
            </a:r>
          </a:p>
          <a:p xmlns:a="http://schemas.openxmlformats.org/drawingml/2006/main">
            <a: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C56A"/>
                </a:solidFill>
                <a:latin typeface="Arial"/>
                <a:ea typeface="Arial"/>
                <a:cs typeface="Arial"/>
              </a:rPr>
              <a:t>Пилот СИЗ требует улучшения модели и независимой повторной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369504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2026-10-25T00:08:29.7280000Z</dcterms:created>
  <dcterms:modified xsi:type="dcterms:W3CDTF">2026-10-25T00:08:29.7280000Z</dcterms:modified>
</coreProperties>
</file>