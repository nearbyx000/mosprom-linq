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7109e1ec2e4b59" /><Relationship Type="http://schemas.openxmlformats.org/officeDocument/2006/relationships/extended-properties" Target="/docProps/app.xml" Id="R1a74a148a1044d8b" /><Relationship Type="http://schemas.openxmlformats.org/officeDocument/2006/relationships/officeDocument" Target="/ppt/presentation.xml" Id="R3fb21430501c47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df6ab6a05c4143"/>
  </p:sldMasterIdLst>
  <p:notesMasterIdLst>
    <p:notesMasterId xmlns:r="http://schemas.openxmlformats.org/officeDocument/2006/relationships" r:id="R7b9c2bdb49444fdb"/>
  </p:notesMasterIdLst>
  <p:sldIdLst>
    <p:sldId xmlns:r="http://schemas.openxmlformats.org/officeDocument/2006/relationships" id="256" r:id="R29a66d88863c49b5"/>
    <p:sldId xmlns:r="http://schemas.openxmlformats.org/officeDocument/2006/relationships" id="257" r:id="R04b167b47c3347d7"/>
    <p:sldId xmlns:r="http://schemas.openxmlformats.org/officeDocument/2006/relationships" id="258" r:id="Rce9e6bd837174399"/>
    <p:sldId xmlns:r="http://schemas.openxmlformats.org/officeDocument/2006/relationships" id="259" r:id="R909126b9848f4b14"/>
    <p:sldId xmlns:r="http://schemas.openxmlformats.org/officeDocument/2006/relationships" id="260" r:id="R86b1485412be4612"/>
    <p:sldId xmlns:r="http://schemas.openxmlformats.org/officeDocument/2006/relationships" id="261" r:id="R74adf67177814e64"/>
    <p:sldId xmlns:r="http://schemas.openxmlformats.org/officeDocument/2006/relationships" id="262" r:id="Re0600f43e2e94b60"/>
    <p:sldId xmlns:r="http://schemas.openxmlformats.org/officeDocument/2006/relationships" id="263" r:id="R6d071956c7ae48cd"/>
    <p:sldId xmlns:r="http://schemas.openxmlformats.org/officeDocument/2006/relationships" id="264" r:id="R5516b8b7078e4fde"/>
    <p:sldId xmlns:r="http://schemas.openxmlformats.org/officeDocument/2006/relationships" id="265" r:id="R4b849c9a170d41d0"/>
    <p:sldId xmlns:r="http://schemas.openxmlformats.org/officeDocument/2006/relationships" id="266" r:id="R5ed3b0dba2a3493c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d01c8dd99f451a" /><Relationship Type="http://schemas.openxmlformats.org/officeDocument/2006/relationships/slideMaster" Target="/ppt/slideMasters/slideMaster1.xml" Id="R08df6ab6a05c4143" /><Relationship Type="http://schemas.openxmlformats.org/officeDocument/2006/relationships/notesMaster" Target="/ppt/notesMasters/notesMaster1.xml" Id="R7b9c2bdb49444fdb" /><Relationship Type="http://schemas.openxmlformats.org/officeDocument/2006/relationships/presProps" Target="/ppt/presProps.xml" Id="R5b80236104bc4833" /><Relationship Type="http://schemas.openxmlformats.org/officeDocument/2006/relationships/viewProps" Target="/ppt/viewProps.xml" Id="Re7808324ba6c4850" /><Relationship Type="http://schemas.openxmlformats.org/officeDocument/2006/relationships/tableStyles" Target="/ppt/tableStyles.xml" Id="Re60a3cc5912a4748" /><Relationship Type="http://schemas.openxmlformats.org/officeDocument/2006/relationships/slide" Target="/ppt/slides/slide1.xml" Id="R29a66d88863c49b5" /><Relationship Type="http://schemas.openxmlformats.org/officeDocument/2006/relationships/slide" Target="/ppt/slides/slide2.xml" Id="R04b167b47c3347d7" /><Relationship Type="http://schemas.openxmlformats.org/officeDocument/2006/relationships/slide" Target="/ppt/slides/slide3.xml" Id="Rce9e6bd837174399" /><Relationship Type="http://schemas.openxmlformats.org/officeDocument/2006/relationships/slide" Target="/ppt/slides/slide4.xml" Id="R909126b9848f4b14" /><Relationship Type="http://schemas.openxmlformats.org/officeDocument/2006/relationships/slide" Target="/ppt/slides/slide5.xml" Id="R86b1485412be4612" /><Relationship Type="http://schemas.openxmlformats.org/officeDocument/2006/relationships/slide" Target="/ppt/slides/slide6.xml" Id="R74adf67177814e64" /><Relationship Type="http://schemas.openxmlformats.org/officeDocument/2006/relationships/slide" Target="/ppt/slides/slide7.xml" Id="Re0600f43e2e94b60" /><Relationship Type="http://schemas.openxmlformats.org/officeDocument/2006/relationships/slide" Target="/ppt/slides/slide8.xml" Id="R6d071956c7ae48cd" /><Relationship Type="http://schemas.openxmlformats.org/officeDocument/2006/relationships/slide" Target="/ppt/slides/slide9.xml" Id="R5516b8b7078e4fde" /><Relationship Type="http://schemas.openxmlformats.org/officeDocument/2006/relationships/slide" Target="/ppt/slides/slide10.xml" Id="R4b849c9a170d41d0" /><Relationship Type="http://schemas.openxmlformats.org/officeDocument/2006/relationships/slide" Target="/ppt/slides/slide11.xml" Id="R5ed3b0dba2a349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c5cd134e5d47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a8a869412b429b" /><Relationship Type="http://schemas.openxmlformats.org/officeDocument/2006/relationships/notesMaster" Target="/ppt/notesMasters/notesMaster1.xml" Id="R57adebcddf854f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f6c163c4114fad" /><Relationship Type="http://schemas.openxmlformats.org/officeDocument/2006/relationships/notesMaster" Target="/ppt/notesMasters/notesMaster1.xml" Id="Raf5ca05a0a454f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3e1ecd05c34e91" /><Relationship Type="http://schemas.openxmlformats.org/officeDocument/2006/relationships/notesMaster" Target="/ppt/notesMasters/notesMaster1.xml" Id="R320643cae78146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014915769a4523" /><Relationship Type="http://schemas.openxmlformats.org/officeDocument/2006/relationships/notesMaster" Target="/ppt/notesMasters/notesMaster1.xml" Id="Ra7e77cfb8f4a4e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7fd3eda1e0410a" /><Relationship Type="http://schemas.openxmlformats.org/officeDocument/2006/relationships/notesMaster" Target="/ppt/notesMasters/notesMaster1.xml" Id="Rfb3085fcae3b41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840d2aeeea4287" /><Relationship Type="http://schemas.openxmlformats.org/officeDocument/2006/relationships/notesMaster" Target="/ppt/notesMasters/notesMaster1.xml" Id="R1a95b3b4ebbe4a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51d83465f349f1" /><Relationship Type="http://schemas.openxmlformats.org/officeDocument/2006/relationships/notesMaster" Target="/ppt/notesMasters/notesMaster1.xml" Id="R7230732cf4574b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d9ca446643465b" /><Relationship Type="http://schemas.openxmlformats.org/officeDocument/2006/relationships/notesMaster" Target="/ppt/notesMasters/notesMaster1.xml" Id="Rfd4cceed1ba442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69165d86194994" /><Relationship Type="http://schemas.openxmlformats.org/officeDocument/2006/relationships/notesMaster" Target="/ppt/notesMasters/notesMaster1.xml" Id="Raa3204bebf5741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de5c1aa3c44424" /><Relationship Type="http://schemas.openxmlformats.org/officeDocument/2006/relationships/notesMaster" Target="/ppt/notesMasters/notesMaster1.xml" Id="R7b783f3e93d7481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c27a6ebc8843fd" /><Relationship Type="http://schemas.openxmlformats.org/officeDocument/2006/relationships/notesMaster" Target="/ppt/notesMasters/notesMaster1.xml" Id="R7b2af51bd21d4b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 оформления: предоставленная пользователем презентация. Изображения из макета служат иллюстрациями. Текущие скриншоты приложения помечены DEMO. Исходная презентация не изменена.</a:t>
            </a:r>
            <a:endParaRPr/>
          </a:p>
          <a:p xmlns:a="http://schemas.openxmlformats.org/drawingml/2006/main">
            <a:r>
              <a:t>Рекомендуемое время: 12 с. Между слайдами 6 и 7 показать живое DEMO 30 с. Первые 9 слайдов и показ: 180 с. Слайды 10–11 резервные.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 оформления: предоставленная пользователем презентация. Изображения из макета служат иллюстрациями. Текущие скриншоты приложения помечены DEMO. Исходная презентация не изменена.</a:t>
            </a:r>
            <a:endParaRPr/>
          </a:p>
          <a:p xmlns:a="http://schemas.openxmlformats.org/drawingml/2006/main">
            <a:r>
              <a:t>Рекомендуемое время: 15 с. Между слайдами 6 и 7 показать живое DEMO 30 с. Первые 9 слайдов и показ: 180 с. Слайды 10–11 резервные.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 оформления: предоставленная пользователем презентация. Изображения из макета служат иллюстрациями. Текущие скриншоты приложения помечены DEMO. Исходная презентация не изменена.</a:t>
            </a:r>
            <a:endParaRPr/>
          </a:p>
          <a:p xmlns:a="http://schemas.openxmlformats.org/drawingml/2006/main">
            <a:r>
              <a:t>Рекомендуемое время: 18 с. Между слайдами 6 и 7 показать живое DEMO 30 с. Первые 9 слайдов и показ: 180 с. Слайды 10–11 резервные.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 оформления: предоставленная пользователем презентация. Изображения из макета служат иллюстрациями. Текущие скриншоты приложения помечены DEMO. Исходная презентация не изменена.</a:t>
            </a:r>
            <a:endParaRPr/>
          </a:p>
          <a:p xmlns:a="http://schemas.openxmlformats.org/drawingml/2006/main">
            <a:r>
              <a:t>Текущая версия задаёт зоны через config/cameras.json. Графическое рисование полигона из исходного макета не заявляется как готовая функция.</a:t>
            </a:r>
            <a:endParaRPr/>
          </a:p>
          <a:p xmlns:a="http://schemas.openxmlformats.org/drawingml/2006/main">
            <a:r>
              <a:t>Рекомендуемое время: 20 с. Между слайдами 6 и 7 показать живое DEMO 30 с. Первые 9 слайдов и показ: 180 с. Слайды 10–11 резервные.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 оформления: предоставленная пользователем презентация. Изображения из макета служат иллюстрациями. Текущие скриншоты приложения помечены DEMO. Исходная презентация не изменена.</a:t>
            </a:r>
            <a:endParaRPr/>
          </a:p>
          <a:p xmlns:a="http://schemas.openxmlformats.org/drawingml/2006/main">
            <a:r>
              <a:t>Рекомендуемое время: 15 с. Между слайдами 6 и 7 показать живое DEMO 30 с. Первые 9 слайдов и показ: 180 с. Слайды 10–11 резервные.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 оформления: предоставленная пользователем презентация. Изображения из макета служат иллюстрациями. Текущие скриншоты приложения помечены DEMO. Исходная презентация не изменена.</a:t>
            </a:r>
            <a:endParaRPr/>
          </a:p>
          <a:p xmlns:a="http://schemas.openxmlformats.org/drawingml/2006/main">
            <a:r>
              <a:t>Рекомендуемое время: 20 с. Между слайдами 6 и 7 показать живое DEMO 30 с. Первые 9 слайдов и показ: 180 с. Слайды 10–11 резервные.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 оформления: предоставленная пользователем презентация. Изображения из макета служат иллюстрациями. Текущие скриншоты приложения помечены DEMO. Исходная презентация не изменена.</a:t>
            </a:r>
            <a:endParaRPr/>
          </a:p>
          <a:p xmlns:a="http://schemas.openxmlformats.org/drawingml/2006/main">
            <a:r>
              <a:t>Рекомендуемое время: 15 с. Между слайдами 6 и 7 показать живое DEMO 30 с. Первые 9 слайдов и показ: 180 с. Слайды 10–11 резервные.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 оформления: предоставленная пользователем презентация. Изображения из макета служат иллюстрациями. Текущие скриншоты приложения помечены DEMO. Исходная презентация не изменена.</a:t>
            </a:r>
            <a:endParaRPr/>
          </a:p>
          <a:p xmlns:a="http://schemas.openxmlformats.org/drawingml/2006/main">
            <a:r>
              <a:t>Источники: docs/INTERNET20_RESULTS.md, docs/reports/safetyvision_internet20.json. LOCAL ONNX CPU. 20 одинаковых JPEG для обеих моделей, person score на 19 после проверки разметки, один неполно размеченный crowd исключён. PPE и fall по 10 кадров. Каска Hardhat означает наличие СИЗ, не надёжность детекции его отсутствия. No-helmet: presence 1/5 положительных, строгие рамки TP/FP/FN 0/1/12. Пересечение с обучением неизвестно. Новых аппаратных raw/quantization метрик нет. Полные показатели сохранены в резерве и отчёте.</a:t>
            </a:r>
            <a:endParaRPr/>
          </a:p>
          <a:p xmlns:a="http://schemas.openxmlformats.org/drawingml/2006/main">
            <a:r>
              <a:t>Рекомендуемое время: 20 с. Между слайдами 6 и 7 показать живое DEMO 30 с. Первые 9 слайдов и показ: 180 с. Слайды 10–11 резервные.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 оформления: предоставленная пользователем презентация. Изображения из макета служат иллюстрациями. Текущие скриншоты приложения помечены DEMO. Исходная презентация не изменена.</a:t>
            </a:r>
            <a:endParaRPr/>
          </a:p>
          <a:p xmlns:a="http://schemas.openxmlformats.org/drawingml/2006/main">
            <a:r>
              <a:t>Рекомендуемое время: 15 с. Между слайдами 6 и 7 показать живое DEMO 30 с. Первые 9 слайдов и показ: 180 с. Слайды 10–11 резервные.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 оформления: предоставленная пользователем презентация. Изображения из макета служат иллюстрациями. Текущие скриншоты приложения помечены DEMO. Исходная презентация не изменена.</a:t>
            </a:r>
            <a:endParaRPr/>
          </a:p>
          <a:p xmlns:a="http://schemas.openxmlformats.org/drawingml/2006/main">
            <a:r>
              <a:t>Источники: docs/INTERNET20_RESULTS.md, docs/reports/safetyvision_internet20.json. LOCAL ONNX CPU. 20 одинаковых JPEG для обеих моделей, person score на 19 после проверки разметки, один неполно размеченный crowd исключён. PPE и fall по 10 кадров. Каска Hardhat означает наличие СИЗ, не надёжность детекции его отсутствия. No-helmet: presence 1/5 положительных, строгие рамки TP/FP/FN 0/1/12. Пересечение с обучением неизвестно. Новых аппаратных raw/quantization метрик нет. Полные показатели сохранены в резерве и отчёте.</a:t>
            </a:r>
            <a:endParaRPr/>
          </a:p>
          <a:p xmlns:a="http://schemas.openxmlformats.org/drawingml/2006/main">
            <a:r>
              <a:t>Рекомендуемое время: 0 с. Между слайдами 6 и 7 показать живое DEMO 30 с. Первые 9 слайдов и показ: 180 с. Слайды 10–11 резервные.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 оформления: предоставленная пользователем презентация. Изображения из макета служат иллюстрациями. Текущие скриншоты приложения помечены DEMO. Исходная презентация не изменена.</a:t>
            </a:r>
            <a:endParaRPr/>
          </a:p>
          <a:p xmlns:a="http://schemas.openxmlformats.org/drawingml/2006/main">
            <a:r>
              <a:t>Рекомендуемое время: 0 с. Между слайдами 6 и 7 показать живое DEMO 30 с. Первые 9 слайдов и показ: 180 с. Слайды 10–11 резервные.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6076bfe13c47fc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fdc6ed5ab14c09" /><Relationship Type="http://schemas.openxmlformats.org/officeDocument/2006/relationships/slideLayout" Target="/ppt/slideLayouts/slideLayout1.xml" Id="Rb23aa956ee9e4b3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3aa956ee9e4b36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de6ba1e3d4085" /><Relationship Type="http://schemas.openxmlformats.org/officeDocument/2006/relationships/image" Target="/ppt/media/image.jpeg" Id="R92490021239243ad" /><Relationship Type="http://schemas.openxmlformats.org/officeDocument/2006/relationships/notesSlide" Target="/ppt/notesSlides/notesSlide1.xml" Id="Re8edd4120fcb4c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0393e139f44e0" /><Relationship Type="http://schemas.openxmlformats.org/officeDocument/2006/relationships/image" Target="/ppt/media/image2.jpeg" Id="Ra38be39533d9461e" /><Relationship Type="http://schemas.openxmlformats.org/officeDocument/2006/relationships/notesSlide" Target="/ppt/notesSlides/notesSlide2.xml" Id="R5a500e49793749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afcee6e104954" /><Relationship Type="http://schemas.openxmlformats.org/officeDocument/2006/relationships/notesSlide" Target="/ppt/notesSlides/notesSlide3.xml" Id="R898caa9659d346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b70f42768449b" /><Relationship Type="http://schemas.openxmlformats.org/officeDocument/2006/relationships/image" Target="/ppt/media/image3.jpeg" Id="Refbcbe22b73042b5" /><Relationship Type="http://schemas.openxmlformats.org/officeDocument/2006/relationships/notesSlide" Target="/ppt/notesSlides/notesSlide4.xml" Id="R88e9829ddbd843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a3921b03d45c2" /><Relationship Type="http://schemas.openxmlformats.org/officeDocument/2006/relationships/notesSlide" Target="/ppt/notesSlides/notesSlide5.xml" Id="R44dc2216f5e64b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823bf0ed4d4d13" /><Relationship Type="http://schemas.openxmlformats.org/officeDocument/2006/relationships/image" Target="/ppt/media/image4.jpeg" Id="R7fb9383a594f4cae" /><Relationship Type="http://schemas.openxmlformats.org/officeDocument/2006/relationships/image" Target="/ppt/media/image5.jpeg" Id="R26480e0022414f68" /><Relationship Type="http://schemas.openxmlformats.org/officeDocument/2006/relationships/notesSlide" Target="/ppt/notesSlides/notesSlide6.xml" Id="R146a59bade4d4e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d6bfbb3d944b4" /><Relationship Type="http://schemas.openxmlformats.org/officeDocument/2006/relationships/notesSlide" Target="/ppt/notesSlides/notesSlide7.xml" Id="Rb96799382b2644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e6c01ad7a4580" /><Relationship Type="http://schemas.openxmlformats.org/officeDocument/2006/relationships/notesSlide" Target="/ppt/notesSlides/notesSlide8.xml" Id="R9c40f2d1120449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e1d252a2a4ee4" /><Relationship Type="http://schemas.openxmlformats.org/officeDocument/2006/relationships/notesSlide" Target="/ppt/notesSlides/notesSlide9.xml" Id="Rdd953f1a358a41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548913ee74c14" /><Relationship Type="http://schemas.openxmlformats.org/officeDocument/2006/relationships/notesSlide" Target="/ppt/notesSlides/notesSlide10.xml" Id="Re729514b334c443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925e94969470e" /><Relationship Type="http://schemas.openxmlformats.org/officeDocument/2006/relationships/notesSlide" Target="/ppt/notesSlides/notesSlide11.xml" Id="R5387186f0bc64f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5C960231-05EF-4394-AF91-E1A6EB1EF2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490021239243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FC875A6-13B5-4867-9EEC-6AD2BB3E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5904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0E">
              <a:alpha val="83000"/>
            </a:srgbClr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41FBDB93-9AA3-4459-92CF-0CED9641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017">
              <a:alpha val="55000"/>
            </a:srgbClr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D677E9B-13E3-4241-90C8-7EB61DEB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731520"/>
            <a:ext cx="4572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spc="130">
                <a:solidFill>
                  <a:srgbClr val="76EDA7"/>
                </a:solidFill>
                <a:latin typeface="Arial"/>
                <a:ea typeface="Arial"/>
                <a:cs typeface="Arial"/>
              </a:rPr>
              <a:t>ОТКРОЙ#МОСПРОМ 2026</a:t>
            </a:r>
            <a:endParaRPr sz="10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E6D966F-58CB-4C9D-B7CD-DEB9206C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44168"/>
            <a:ext cx="75895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4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SafeSight</a:t>
            </a:r>
            <a:endParaRPr sz="54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B77F978-4D1E-44D5-9489-4D57EEDF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377440"/>
            <a:ext cx="66751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От видеопотока — к подтверждённому инциденту</a:t>
            </a:r>
            <a:endParaRPr sz="27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D728B8A-3CF9-4E1C-BE6C-2B0CD555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3904488"/>
            <a:ext cx="51755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560">
            <a:solidFill>
              <a:srgbClr val="76EDA7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113EE7E-8F5C-4E24-9171-B9FA9915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4178808"/>
            <a:ext cx="68122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00">
                <a:solidFill>
                  <a:srgbClr val="A9BEC1"/>
                </a:solidFill>
                <a:latin typeface="Arial"/>
                <a:ea typeface="Arial"/>
                <a:cs typeface="Arial"/>
              </a:defRPr>
            </a:defPPr>
            <a:lvl1pPr algn="l">
              <a:defRPr sz="19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1pPr>
            <a:lvl2pPr algn="l">
              <a:defRPr sz="19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2pPr>
            <a:lvl3pPr algn="l">
              <a:defRPr sz="19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3pPr>
            <a:lvl4pPr algn="l">
              <a:defRPr sz="19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4pPr>
            <a:lvl5pPr algn="l">
              <a:defRPr sz="19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5pPr>
            <a:lvl6pPr algn="l">
              <a:defRPr sz="19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6pPr>
            <a:lvl7pPr algn="l">
              <a:defRPr sz="19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7pPr>
            <a:lvl8pPr algn="l">
              <a:defRPr sz="19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8pPr>
            <a:lvl9pPr algn="l">
              <a:defRPr sz="19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900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900">
                <a:solidFill>
                  <a:srgbClr val="A9BEC1"/>
                </a:solidFill>
                <a:latin typeface="Arial"/>
                <a:ea typeface="Arial"/>
                <a:cs typeface="Arial"/>
              </a:rPr>
              <a:t>Контроль опасных зон, предупреждения и доказательные кадры</a:t>
            </a:r>
            <a:endParaRPr sz="19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64C5555-C068-4613-AA7E-E9BD759B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5806440"/>
            <a:ext cx="2743200" cy="301752"/>
          </a:xfrm>
          <a:prstGeom xmlns:a="http://schemas.openxmlformats.org/drawingml/2006/main" prst="roundRect">
            <a:avLst>
              <a:gd name="adj" fmla="val 39394"/>
            </a:avLst>
          </a:prstGeom>
          <a:solidFill xmlns:a="http://schemas.openxmlformats.org/drawingml/2006/main">
            <a:srgbClr val="15382B"/>
          </a:solidFill>
          <a:ln xmlns:a="http://schemas.openxmlformats.org/drawingml/2006/main" w="12700">
            <a:solidFill>
              <a:srgbClr val="2C73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16ED4CE-1562-4D65-B16D-C07AD683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833872"/>
            <a:ext cx="2523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76EDA7"/>
                </a:solidFill>
                <a:latin typeface="Arial"/>
                <a:ea typeface="Arial"/>
                <a:cs typeface="Arial"/>
              </a:rPr>
              <a:t>ПИТЧ + ЖИВОЙ ПОКАЗ · 3:00</a:t>
            </a:r>
            <a:endParaRPr sz="9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6B22860-92DE-410E-B846-4B216FD2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1984" y="6419088"/>
            <a:ext cx="3474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F4FAF8"/>
                </a:solidFill>
                <a:latin typeface="Arial"/>
                <a:ea typeface="Arial"/>
                <a:cs typeface="Arial"/>
              </a:rPr>
              <a:t>01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489784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2367A75-2BD4-409B-A454-36F243ED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519672"/>
            <a:ext cx="6400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 spc="100">
                <a:solidFill>
                  <a:srgbClr val="7E969D"/>
                </a:solidFill>
                <a:latin typeface="Arial"/>
                <a:ea typeface="Arial"/>
                <a:cs typeface="Arial"/>
              </a:rPr>
              <a:t>SAFE SIGHT / LINQ TPU</a:t>
            </a:r>
            <a:endParaRPr sz="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174BA27-BD68-4CF2-B6BE-F65D4F65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E969D"/>
                </a:solidFill>
                <a:latin typeface="Arial"/>
                <a:ea typeface="Arial"/>
                <a:cs typeface="Arial"/>
              </a:rPr>
              <a:t>02</a:t>
            </a:r>
            <a:endParaRPr sz="1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731647B-BD8F-4CB2-A830-F7376C30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5488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8333A"/>
            </a:solidFill>
            <a:prstDash val="solid"/>
            <a:headEnd type="none"/>
            <a:tailEnd type="none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E47DE8F-4CCE-4BFD-AB5C-3EE2F799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740664"/>
            <a:ext cx="109270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Проблема: человек не должен смотреть на всё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58AC0FF-A8AE-4D22-B60D-952C51BA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99032"/>
            <a:ext cx="107442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A9BEC1"/>
                </a:solidFill>
                <a:latin typeface="Arial"/>
                <a:ea typeface="Arial"/>
                <a:cs typeface="Arial"/>
              </a:rPr>
              <a:t>Производственный видеопоток полезен только тогда, когда помогает принять решение.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3543130-29A0-4852-BC59-DB55C977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01952"/>
            <a:ext cx="5120640" cy="3511296"/>
          </a:xfrm>
          <a:prstGeom xmlns:a="http://schemas.openxmlformats.org/drawingml/2006/main" prst="roundRect">
            <a:avLst>
              <a:gd name="adj" fmla="val 3385"/>
            </a:avLst>
          </a:prstGeom>
          <a:solidFill xmlns:a="http://schemas.openxmlformats.org/drawingml/2006/main">
            <a:srgbClr val="102129"/>
          </a:solidFill>
          <a:ln xmlns:a="http://schemas.openxmlformats.org/drawingml/2006/main" w="12700">
            <a:solidFill>
              <a:srgbClr val="102129">
                <a:alpha val="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0CA9803-AA34-416A-AD47-486C44A4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221992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76EDA7"/>
                </a:solidFill>
                <a:latin typeface="Arial"/>
                <a:ea typeface="Arial"/>
                <a:cs typeface="Arial"/>
              </a:rPr>
              <a:t>01</a:t>
            </a:r>
            <a:endParaRPr sz="17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9BFD97C-5E71-4A66-A260-6D8F4D91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2221992"/>
            <a:ext cx="38039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Много камер</a:t>
            </a:r>
            <a:endParaRPr sz="1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E952850-4D61-44B2-9A18-F814E7C0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896" y="2587752"/>
            <a:ext cx="378561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A9BEC1"/>
                </a:solidFill>
                <a:latin typeface="Arial"/>
                <a:ea typeface="Arial"/>
                <a:cs typeface="Arial"/>
              </a:rPr>
              <a:t>Постоянный ручной контроль быстро перегружает оператора.</a:t>
            </a:r>
            <a:endParaRPr sz="12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FBCAA76-7E87-4627-8E99-A19575C8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136392"/>
            <a:ext cx="45902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9404A"/>
            </a:solidFill>
            <a:prstDash val="solid"/>
            <a:headEnd type="none"/>
            <a:tailEnd type="none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E37CA99-829E-44D0-9280-090A0014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46120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76EDA7"/>
                </a:solidFill>
                <a:latin typeface="Arial"/>
                <a:ea typeface="Arial"/>
                <a:cs typeface="Arial"/>
              </a:rPr>
              <a:t>02</a:t>
            </a:r>
            <a:endParaRPr sz="17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B6802D9-7AB9-4ED6-98FA-6DFC1D8C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3246120"/>
            <a:ext cx="38039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Повторные тревоги</a:t>
            </a:r>
            <a:endParaRPr sz="19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5878D81-494D-40C1-93AE-AE95F172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896" y="3611880"/>
            <a:ext cx="378561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A9BEC1"/>
                </a:solidFill>
                <a:latin typeface="Arial"/>
                <a:ea typeface="Arial"/>
                <a:cs typeface="Arial"/>
              </a:rPr>
              <a:t>Одно нарушение может создавать десятки уведомлений.</a:t>
            </a:r>
            <a:endParaRPr sz="12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199C7D6-6160-4C3A-A537-08C1831D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160520"/>
            <a:ext cx="45902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9404A"/>
            </a:solidFill>
            <a:prstDash val="solid"/>
            <a:headEnd type="none"/>
            <a:tailEnd type="none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E329222-DBB3-4ED6-89DF-9D530F06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270248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76EDA7"/>
                </a:solidFill>
                <a:latin typeface="Arial"/>
                <a:ea typeface="Arial"/>
                <a:cs typeface="Arial"/>
              </a:rPr>
              <a:t>03</a:t>
            </a:r>
            <a:endParaRPr sz="17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D9C04C8-A71B-46A3-92F0-1DAC0915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4270248"/>
            <a:ext cx="38039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Нет доказательств</a:t>
            </a:r>
            <a:endParaRPr sz="19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AB5D3F4-FC0B-4A21-ACA7-2DAB4B71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896" y="4636008"/>
            <a:ext cx="378561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A9BEC1"/>
                </a:solidFill>
                <a:latin typeface="Arial"/>
                <a:ea typeface="Arial"/>
                <a:cs typeface="Arial"/>
              </a:rPr>
              <a:t>Для проверки нужны время, место и исходный кадр.</a:t>
            </a:r>
            <a:endParaRPr sz="1200"/>
          </a:p>
        </p:txBody>
      </p:sp>
      <p:pic>
        <p:nvPicPr>
          <p:cNvPr id="19" name="Image 0">
            <a:extLst xmlns:a="http://schemas.openxmlformats.org/drawingml/2006/main">
              <a:ext uri="{FF2B5EF4-FFF2-40B4-BE49-F238E27FC236}">
                <a16:creationId xmlns:a16="http://schemas.microsoft.com/office/drawing/2014/main" id="{C3D540EE-67D6-4C74-AFE2-35AA2AFDDF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8be39533d946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25896" y="1901952"/>
            <a:ext cx="5605272" cy="3520440"/>
          </a:xfrm>
          <a:prstGeom xmlns:a="http://schemas.openxmlformats.org/drawingml/2006/main" prst="rect">
            <a:avLst/>
          </a:prstGeom>
        </p:spPr>
      </p:pic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84B69192-CD6F-4685-8C18-D6C4220D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4956048"/>
            <a:ext cx="5404104" cy="448056"/>
          </a:xfrm>
          <a:prstGeom xmlns:a="http://schemas.openxmlformats.org/drawingml/2006/main" prst="roundRect">
            <a:avLst>
              <a:gd name="adj" fmla="val 26531"/>
            </a:avLst>
          </a:prstGeom>
          <a:solidFill xmlns:a="http://schemas.openxmlformats.org/drawingml/2006/main">
            <a:srgbClr val="081C1D">
              <a:alpha val="91000"/>
            </a:srgbClr>
          </a:solidFill>
          <a:ln xmlns:a="http://schemas.openxmlformats.org/drawingml/2006/main" w="12700">
            <a:solidFill>
              <a:srgbClr val="102129">
                <a:alpha val="0"/>
              </a:srgbClr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120D49FB-0ABF-4D1A-9F85-2245FE06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5029200"/>
            <a:ext cx="5029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defPPr>
            <a:lvl1pPr algn="l">
              <a:defRPr sz="11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1pPr>
            <a:lvl2pPr algn="l">
              <a:defRPr sz="11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2pPr>
            <a:lvl3pPr algn="l">
              <a:defRPr sz="11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3pPr>
            <a:lvl4pPr algn="l">
              <a:defRPr sz="11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4pPr>
            <a:lvl5pPr algn="l">
              <a:defRPr sz="11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5pPr>
            <a:lvl6pPr algn="l">
              <a:defRPr sz="11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6pPr>
            <a:lvl7pPr algn="l">
              <a:defRPr sz="11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7pPr>
            <a:lvl8pPr algn="l">
              <a:defRPr sz="11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8pPr>
            <a:lvl9pPr algn="l">
              <a:defRPr sz="11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1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76EDA7"/>
                </a:solidFill>
                <a:latin typeface="Arial"/>
                <a:ea typeface="Arial"/>
                <a:cs typeface="Arial"/>
              </a:rPr>
              <a:t>Детекция людей: контрольный кадр команды</a:t>
            </a:r>
            <a:endParaRPr sz="11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DE6F807-3E9D-4D7D-908A-B8D9FA24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099048"/>
            <a:ext cx="10515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defPPr>
            <a:lvl1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1pPr>
            <a:lvl2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2pPr>
            <a:lvl3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3pPr>
            <a:lvl4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4pPr>
            <a:lvl5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5pPr>
            <a:lvl6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6pPr>
            <a:lvl7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7pPr>
            <a:lvl8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8pPr>
            <a:lvl9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100" i="1">
                <a:solidFill>
                  <a:srgbClr val="A9BEC1"/>
                </a:solidFill>
                <a:latin typeface="Arial"/>
                <a:ea typeface="Arial"/>
                <a:cs typeface="Arial"/>
              </a:rPr>
              <a:t>Оператор проверяет подтверждённый эпизод по сохранённому кадру.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0603328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ADEF840-3526-4BF1-955A-8721A45B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519672"/>
            <a:ext cx="6400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 spc="100">
                <a:solidFill>
                  <a:srgbClr val="7E969D"/>
                </a:solidFill>
                <a:latin typeface="Arial"/>
                <a:ea typeface="Arial"/>
                <a:cs typeface="Arial"/>
              </a:rPr>
              <a:t>SAFE SIGHT / LINQ TPU</a:t>
            </a:r>
            <a:endParaRPr sz="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97E0A34-054D-456A-BEBB-6887D3D5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E969D"/>
                </a:solidFill>
                <a:latin typeface="Arial"/>
                <a:ea typeface="Arial"/>
                <a:cs typeface="Arial"/>
              </a:rPr>
              <a:t>03</a:t>
            </a:r>
            <a:endParaRPr sz="1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1CB92F2-3BDD-4E28-8BB8-31ED4AE4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5488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8333A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CFE3A15-8F05-4C89-A002-4255B848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740664"/>
            <a:ext cx="109270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Рабочая архитектура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0A4A118-875A-4826-87F5-B54C6C4E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99032"/>
            <a:ext cx="107442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defPPr>
            <a:lvl1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1pPr>
            <a:lvl2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2pPr>
            <a:lvl3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3pPr>
            <a:lvl4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4pPr>
            <a:lvl5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5pPr>
            <a:lvl6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6pPr>
            <a:lvl7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7pPr>
            <a:lvl8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8pPr>
            <a:lvl9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A9BEC1"/>
                </a:solidFill>
                <a:latin typeface="Arial"/>
                <a:ea typeface="Arial"/>
                <a:cs typeface="Arial"/>
              </a:rPr>
              <a:t>Плавный видеопоток работает независимо от удалённого инференса.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D55A3C0-EEED-4B71-A2BB-F1C15613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84832"/>
            <a:ext cx="2029968" cy="1435608"/>
          </a:xfrm>
          <a:prstGeom xmlns:a="http://schemas.openxmlformats.org/drawingml/2006/main" prst="roundRect">
            <a:avLst>
              <a:gd name="adj" fmla="val 8280"/>
            </a:avLst>
          </a:prstGeom>
          <a:solidFill xmlns:a="http://schemas.openxmlformats.org/drawingml/2006/main">
            <a:srgbClr val="102129"/>
          </a:solidFill>
          <a:ln xmlns:a="http://schemas.openxmlformats.org/drawingml/2006/main" w="12700">
            <a:solidFill>
              <a:srgbClr val="2342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2B2E50B-2D9A-4184-A21A-C0E5051B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295144"/>
            <a:ext cx="17373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Камера</a:t>
            </a:r>
            <a:endParaRPr sz="1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53D602C-6130-489F-97A2-223650AC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788920"/>
            <a:ext cx="179222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A9BEC1"/>
                </a:solidFill>
                <a:latin typeface="Arial"/>
                <a:ea typeface="Arial"/>
                <a:cs typeface="Arial"/>
              </a:rPr>
              <a:t>один захват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A9BEC1"/>
                </a:solidFill>
                <a:latin typeface="Arial"/>
                <a:ea typeface="Arial"/>
                <a:cs typeface="Arial"/>
              </a:rPr>
              <a:t>до 30 FPS preview</a:t>
            </a:r>
            <a:endParaRPr sz="1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EEC8414-502E-46E9-9695-365091C6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2587752"/>
            <a:ext cx="2194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76EDA7"/>
                </a:solidFill>
                <a:latin typeface="Arial"/>
                <a:ea typeface="Arial"/>
                <a:cs typeface="Arial"/>
              </a:rPr>
              <a:t>→</a:t>
            </a:r>
            <a:endParaRPr sz="23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9497212-0C22-4D64-ADAF-FF0A60EE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084832"/>
            <a:ext cx="2029968" cy="1435608"/>
          </a:xfrm>
          <a:prstGeom xmlns:a="http://schemas.openxmlformats.org/drawingml/2006/main" prst="roundRect">
            <a:avLst>
              <a:gd name="adj" fmla="val 8280"/>
            </a:avLst>
          </a:prstGeom>
          <a:solidFill xmlns:a="http://schemas.openxmlformats.org/drawingml/2006/main">
            <a:srgbClr val="102129"/>
          </a:solidFill>
          <a:ln xmlns:a="http://schemas.openxmlformats.org/drawingml/2006/main" w="12700">
            <a:solidFill>
              <a:srgbClr val="2342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ADD0476-D212-4273-AD91-9590FB70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384" y="2295144"/>
            <a:ext cx="17373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9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defPPr>
            <a:lvl1pPr algn="ctr">
              <a:defRPr sz="19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1pPr>
            <a:lvl2pPr algn="ctr">
              <a:defRPr sz="19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2pPr>
            <a:lvl3pPr algn="ctr">
              <a:defRPr sz="19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3pPr>
            <a:lvl4pPr algn="ctr">
              <a:defRPr sz="19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4pPr>
            <a:lvl5pPr algn="ctr">
              <a:defRPr sz="19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5pPr>
            <a:lvl6pPr algn="ctr">
              <a:defRPr sz="19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6pPr>
            <a:lvl7pPr algn="ctr">
              <a:defRPr sz="19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7pPr>
            <a:lvl8pPr algn="ctr">
              <a:defRPr sz="19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8pPr>
            <a:lvl9pPr algn="ctr">
              <a:defRPr sz="19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ctr">
              <a:buNone/>
              <a:defRPr sz="19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RabbitMQ</a:t>
            </a:r>
            <a:endParaRPr sz="1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FA97A61-7D1A-4211-856B-24FC0D94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52" y="2788920"/>
            <a:ext cx="179222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defPPr>
            <a:lvl1pPr algn="ctr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1pPr>
            <a:lvl2pPr algn="ctr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2pPr>
            <a:lvl3pPr algn="ctr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3pPr>
            <a:lvl4pPr algn="ctr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4pPr>
            <a:lvl5pPr algn="ctr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5pPr>
            <a:lvl6pPr algn="ctr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6pPr>
            <a:lvl7pPr algn="ctr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7pPr>
            <a:lvl8pPr algn="ctr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8pPr>
            <a:lvl9pPr algn="ctr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ctr">
              <a:buNone/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100">
                <a:solidFill>
                  <a:srgbClr val="A9BEC1"/>
                </a:solidFill>
                <a:latin typeface="Arial"/>
                <a:ea typeface="Arial"/>
                <a:cs typeface="Arial"/>
              </a:rPr>
              <a:t>запрос / ответ</a:t>
            </a:r>
            <a:endParaRPr sz="1100"/>
          </a:p>
          <a:p xmlns:a="http://schemas.openxmlformats.org/drawingml/2006/main">
            <a:pPr marL="0" indent="0" algn="ctr">
              <a:buNone/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100">
                <a:solidFill>
                  <a:srgbClr val="A9BEC1"/>
                </a:solidFill>
                <a:latin typeface="Arial"/>
                <a:ea typeface="Arial"/>
                <a:cs typeface="Arial"/>
              </a:rPr>
              <a:t>независимые маршруты</a:t>
            </a:r>
            <a:endParaRPr sz="1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CC70FD0-0F2C-4139-BF18-BA398C8F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768" y="2587752"/>
            <a:ext cx="2194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76EDA7"/>
                </a:solidFill>
                <a:latin typeface="Arial"/>
                <a:ea typeface="Arial"/>
                <a:cs typeface="Arial"/>
              </a:rPr>
              <a:t>→</a:t>
            </a:r>
            <a:endParaRPr sz="23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F701196-1359-4E9E-AE77-7A40ACD3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84832"/>
            <a:ext cx="2029968" cy="1435608"/>
          </a:xfrm>
          <a:prstGeom xmlns:a="http://schemas.openxmlformats.org/drawingml/2006/main" prst="roundRect">
            <a:avLst>
              <a:gd name="adj" fmla="val 8280"/>
            </a:avLst>
          </a:prstGeom>
          <a:solidFill xmlns:a="http://schemas.openxmlformats.org/drawingml/2006/main">
            <a:srgbClr val="102129"/>
          </a:solidFill>
          <a:ln xmlns:a="http://schemas.openxmlformats.org/drawingml/2006/main" w="12700">
            <a:solidFill>
              <a:srgbClr val="2342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8C2EFA6-0E4E-40EE-B03D-EBC59B5D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104" y="2295144"/>
            <a:ext cx="17373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9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defPPr>
            <a:lvl1pPr algn="ctr">
              <a:defRPr sz="19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1pPr>
            <a:lvl2pPr algn="ctr">
              <a:defRPr sz="19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2pPr>
            <a:lvl3pPr algn="ctr">
              <a:defRPr sz="19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3pPr>
            <a:lvl4pPr algn="ctr">
              <a:defRPr sz="19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4pPr>
            <a:lvl5pPr algn="ctr">
              <a:defRPr sz="19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5pPr>
            <a:lvl6pPr algn="ctr">
              <a:defRPr sz="19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6pPr>
            <a:lvl7pPr algn="ctr">
              <a:defRPr sz="19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7pPr>
            <a:lvl8pPr algn="ctr">
              <a:defRPr sz="19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8pPr>
            <a:lvl9pPr algn="ctr">
              <a:defRPr sz="19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ctr">
              <a:buNone/>
              <a:defRPr sz="19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JPEG Gateway</a:t>
            </a:r>
            <a:endParaRPr sz="19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4DB0719-0854-4F63-A391-131F9752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2788920"/>
            <a:ext cx="179222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defPPr>
            <a:lvl1pPr algn="ctr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1pPr>
            <a:lvl2pPr algn="ctr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2pPr>
            <a:lvl3pPr algn="ctr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3pPr>
            <a:lvl4pPr algn="ctr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4pPr>
            <a:lvl5pPr algn="ctr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5pPr>
            <a:lvl6pPr algn="ctr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6pPr>
            <a:lvl7pPr algn="ctr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7pPr>
            <a:lvl8pPr algn="ctr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8pPr>
            <a:lvl9pPr algn="ctr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ctr">
              <a:buNone/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100">
                <a:solidFill>
                  <a:srgbClr val="A9BEC1"/>
                </a:solidFill>
                <a:latin typeface="Arial"/>
                <a:ea typeface="Arial"/>
                <a:cs typeface="Arial"/>
              </a:rPr>
              <a:t>JPEG в тензор</a:t>
            </a:r>
            <a:endParaRPr sz="1100"/>
          </a:p>
          <a:p xmlns:a="http://schemas.openxmlformats.org/drawingml/2006/main">
            <a:pPr marL="0" indent="0" algn="ctr">
              <a:buNone/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100">
                <a:solidFill>
                  <a:srgbClr val="A9BEC1"/>
                </a:solidFill>
                <a:latin typeface="Arial"/>
                <a:ea typeface="Arial"/>
                <a:cs typeface="Arial"/>
              </a:rPr>
              <a:t>в облачном контуре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316D92C-FD73-4F48-A599-D5028E9A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488" y="2587752"/>
            <a:ext cx="2194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76EDA7"/>
                </a:solidFill>
                <a:latin typeface="Arial"/>
                <a:ea typeface="Arial"/>
                <a:cs typeface="Arial"/>
              </a:rPr>
              <a:t>→</a:t>
            </a:r>
            <a:endParaRPr sz="23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D3F1E0C-7668-4699-8937-38326EE8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084832"/>
            <a:ext cx="2029968" cy="1435608"/>
          </a:xfrm>
          <a:prstGeom xmlns:a="http://schemas.openxmlformats.org/drawingml/2006/main" prst="roundRect">
            <a:avLst>
              <a:gd name="adj" fmla="val 8280"/>
            </a:avLst>
          </a:prstGeom>
          <a:solidFill xmlns:a="http://schemas.openxmlformats.org/drawingml/2006/main">
            <a:srgbClr val="102129"/>
          </a:solidFill>
          <a:ln xmlns:a="http://schemas.openxmlformats.org/drawingml/2006/main" w="12700">
            <a:solidFill>
              <a:srgbClr val="76EDA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7156434-B828-4821-886D-39DB3C49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5824" y="2295144"/>
            <a:ext cx="17373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LinQ TPU</a:t>
            </a:r>
            <a:endParaRPr sz="19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8168597-0989-46E6-8610-C623B945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2788920"/>
            <a:ext cx="179222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A9BEC1"/>
                </a:solidFill>
                <a:latin typeface="Arial"/>
                <a:ea typeface="Arial"/>
                <a:cs typeface="Arial"/>
              </a:rPr>
              <a:t>YOLOv8n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A9BEC1"/>
                </a:solidFill>
                <a:latin typeface="Arial"/>
                <a:ea typeface="Arial"/>
                <a:cs typeface="Arial"/>
              </a:rPr>
              <a:t>+ SafetyVision</a:t>
            </a:r>
            <a:endParaRPr sz="11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461D657-9C03-42E5-8618-2C1BE36B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2084832"/>
            <a:ext cx="1600200" cy="1435608"/>
          </a:xfrm>
          <a:prstGeom xmlns:a="http://schemas.openxmlformats.org/drawingml/2006/main" prst="roundRect">
            <a:avLst>
              <a:gd name="adj" fmla="val 8280"/>
            </a:avLst>
          </a:prstGeom>
          <a:solidFill xmlns:a="http://schemas.openxmlformats.org/drawingml/2006/main">
            <a:srgbClr val="153729"/>
          </a:solidFill>
          <a:ln xmlns:a="http://schemas.openxmlformats.org/drawingml/2006/main" w="12700">
            <a:solidFill>
              <a:srgbClr val="76EDA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C708981-573E-42A0-B569-B87FBFBB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688" y="2368296"/>
            <a:ext cx="1261872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Rule</a:t>
            </a:r>
            <a:endParaRPr sz="1700"/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Engine</a:t>
            </a:r>
            <a:endParaRPr sz="17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6CAF9CD-AA36-4231-A563-C403D464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3584448"/>
            <a:ext cx="411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76EDA7"/>
                </a:solidFill>
                <a:latin typeface="Arial"/>
                <a:ea typeface="Arial"/>
                <a:cs typeface="Arial"/>
              </a:rPr>
              <a:t>↓</a:t>
            </a:r>
            <a:endParaRPr sz="28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57D5921-2B5A-43C2-8AFF-E1746D16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160520"/>
            <a:ext cx="4480560" cy="1115568"/>
          </a:xfrm>
          <a:prstGeom xmlns:a="http://schemas.openxmlformats.org/drawingml/2006/main" prst="roundRect">
            <a:avLst>
              <a:gd name="adj" fmla="val 10656"/>
            </a:avLst>
          </a:prstGeom>
          <a:solidFill xmlns:a="http://schemas.openxmlformats.org/drawingml/2006/main">
            <a:srgbClr val="0E2927"/>
          </a:solidFill>
          <a:ln xmlns:a="http://schemas.openxmlformats.org/drawingml/2006/main" w="12700">
            <a:solidFill>
              <a:srgbClr val="2D6A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A1E3930-EBC5-4C44-A686-946D5117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379976"/>
            <a:ext cx="3931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76EDA7"/>
                </a:solidFill>
                <a:latin typeface="Arial"/>
                <a:ea typeface="Arial"/>
                <a:cs typeface="Arial"/>
              </a:rPr>
              <a:t>Stream CV / Warns</a:t>
            </a:r>
            <a:endParaRPr sz="2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505C658-D037-4527-A974-1459DF58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764024"/>
            <a:ext cx="4023360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A9BEC1"/>
                </a:solidFill>
                <a:latin typeface="Arial"/>
                <a:ea typeface="Arial"/>
                <a:cs typeface="Arial"/>
              </a:rPr>
              <a:t>Рамки и текущие предупреждения</a:t>
            </a:r>
            <a:endParaRPr sz="12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F8B44527-5C63-4143-92A2-9F9C1B4F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160520"/>
            <a:ext cx="4526280" cy="1115568"/>
          </a:xfrm>
          <a:prstGeom xmlns:a="http://schemas.openxmlformats.org/drawingml/2006/main" prst="roundRect">
            <a:avLst>
              <a:gd name="adj" fmla="val 10656"/>
            </a:avLst>
          </a:prstGeom>
          <a:solidFill xmlns:a="http://schemas.openxmlformats.org/drawingml/2006/main">
            <a:srgbClr val="0E2927"/>
          </a:solidFill>
          <a:ln xmlns:a="http://schemas.openxmlformats.org/drawingml/2006/main" w="12700">
            <a:solidFill>
              <a:srgbClr val="2D6A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7C41180-A553-4050-8266-F8EBEE98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379976"/>
            <a:ext cx="3977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76EDA7"/>
                </a:solidFill>
                <a:latin typeface="Arial"/>
                <a:ea typeface="Arial"/>
                <a:cs typeface="Arial"/>
              </a:rPr>
              <a:t>Backlog + Evidence</a:t>
            </a:r>
            <a:endParaRPr sz="22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9E6EFBBB-7CAD-404D-8F48-267EFD49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764024"/>
            <a:ext cx="4069080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A9BEC1"/>
                </a:solidFill>
                <a:latin typeface="Arial"/>
                <a:ea typeface="Arial"/>
                <a:cs typeface="Arial"/>
              </a:rPr>
              <a:t>SQLite + доказательные JPEG</a:t>
            </a:r>
            <a:endParaRPr sz="12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A9A034A7-04EC-43D3-B317-FD4CE1B3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099048"/>
            <a:ext cx="10515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defPPr>
            <a:lvl1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1pPr>
            <a:lvl2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2pPr>
            <a:lvl3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3pPr>
            <a:lvl4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4pPr>
            <a:lvl5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5pPr>
            <a:lvl6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6pPr>
            <a:lvl7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7pPr>
            <a:lvl8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8pPr>
            <a:lvl9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100" i="1">
                <a:solidFill>
                  <a:srgbClr val="A9BEC1"/>
                </a:solidFill>
                <a:latin typeface="Arial"/>
                <a:ea typeface="Arial"/>
                <a:cs typeface="Arial"/>
              </a:rPr>
              <a:t>Демонстрация: обнаружение, Warns и Backlog. Видео продолжает работать при задержках анализа.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186089639"/>
      </p:ext>
    </p:extLst>
  </p:cSld>
</p:sld>
</file>

<file path=ppt/slides/slide4.xml><?xml version="1.0" encoding="utf-8"?>
<p:sld xmlns:p="http://schemas.openxmlformats.org/presentationml/2006/main" show="0">
  <p:cSld>
    <p:bg>
      <p:bgPr>
        <a:solidFill xmlns:a="http://schemas.openxmlformats.org/drawingml/2006/main">
          <a:srgbClr val="06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CBC29C1-CFBD-4A91-8FA1-D503CAA8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519672"/>
            <a:ext cx="6400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 spc="100">
                <a:solidFill>
                  <a:srgbClr val="7E969D"/>
                </a:solidFill>
                <a:latin typeface="Arial"/>
                <a:ea typeface="Arial"/>
                <a:cs typeface="Arial"/>
              </a:rPr>
              <a:t>SAFE SIGHT / LINQ TPU</a:t>
            </a:r>
            <a:endParaRPr sz="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5008515-90D4-4235-A866-29F66D82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E969D"/>
                </a:solidFill>
                <a:latin typeface="Arial"/>
                <a:ea typeface="Arial"/>
                <a:cs typeface="Arial"/>
              </a:rPr>
              <a:t>04</a:t>
            </a:r>
            <a:endParaRPr sz="1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37F7D8F-0B13-43AC-90F3-18D8A496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5488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8333A"/>
            </a:solidFill>
            <a:prstDash val="solid"/>
            <a:headEnd type="none"/>
            <a:tailEnd type="none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D865709-AE61-443D-89F2-473E49D9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740664"/>
            <a:ext cx="109270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30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Пример 1 / настройка опасной зоны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C281FE2-0579-4867-929E-F0850906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99032"/>
            <a:ext cx="107442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defPPr>
            <a:lvl1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1pPr>
            <a:lvl2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2pPr>
            <a:lvl3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3pPr>
            <a:lvl4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4pPr>
            <a:lvl5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5pPr>
            <a:lvl6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6pPr>
            <a:lvl7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7pPr>
            <a:lvl8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8pPr>
            <a:lvl9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A9BEC1"/>
                </a:solidFill>
                <a:latin typeface="Arial"/>
                <a:ea typeface="Arial"/>
                <a:cs typeface="Arial"/>
              </a:rPr>
              <a:t>Полигон задаётся в конфигурации. Правило использует точку у ног человека.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6A0688D-B64A-4AEC-AF4D-C2FC35D5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1920240"/>
            <a:ext cx="4233672" cy="3584448"/>
          </a:xfrm>
          <a:prstGeom xmlns:a="http://schemas.openxmlformats.org/drawingml/2006/main" prst="roundRect">
            <a:avLst>
              <a:gd name="adj" fmla="val 3316"/>
            </a:avLst>
          </a:prstGeom>
          <a:solidFill xmlns:a="http://schemas.openxmlformats.org/drawingml/2006/main">
            <a:srgbClr val="102129"/>
          </a:solidFill>
          <a:ln xmlns:a="http://schemas.openxmlformats.org/drawingml/2006/main" w="12700">
            <a:solidFill>
              <a:srgbClr val="102129">
                <a:alpha val="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C9ECB97-8971-4E26-8FC7-6998A885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249424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spc="130">
                <a:solidFill>
                  <a:srgbClr val="76EDA7"/>
                </a:solidFill>
                <a:latin typeface="Arial"/>
                <a:ea typeface="Arial"/>
                <a:cs typeface="Arial"/>
              </a:rPr>
              <a:t>КОНФИГУРАЦИЯ</a:t>
            </a:r>
            <a:endParaRPr sz="1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1DBFC8C-7E58-4265-B542-0DAD0B09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79192"/>
            <a:ext cx="3584448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783"/>
          </a:bodyPr>
          <a:lstStyle xmlns:a="http://schemas.openxmlformats.org/drawingml/2006/main">
            <a:defPPr algn="l">
              <a:defRPr sz="24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24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Опасный участок</a:t>
            </a:r>
            <a:endParaRPr sz="2400"/>
          </a:p>
          <a:p xmlns:a="http://schemas.openxmlformats.org/drawingml/2006/main">
            <a:pPr marL="0" indent="0" algn="l">
              <a:buNone/>
              <a:defRPr sz="24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задаётся полигоном</a:t>
            </a:r>
            <a:endParaRPr sz="2400"/>
          </a:p>
          <a:p xmlns:a="http://schemas.openxmlformats.org/drawingml/2006/main">
            <a:pPr marL="0" indent="0" algn="l">
              <a:buNone/>
              <a:defRPr sz="24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в конфигурации камеры</a:t>
            </a:r>
            <a:endParaRPr sz="24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199DE64-947B-43C4-BA92-AB3D8A4A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352544"/>
            <a:ext cx="33924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32634D"/>
            </a:solidFill>
            <a:prstDash val="solid"/>
            <a:headEnd type="none"/>
            <a:tailEnd type="none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9ECBEF0-D276-4731-B963-C260B305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08576"/>
            <a:ext cx="354787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00">
                <a:solidFill>
                  <a:srgbClr val="A9BEC1"/>
                </a:solidFill>
                <a:latin typeface="Arial"/>
                <a:ea typeface="Arial"/>
                <a:cs typeface="Arial"/>
              </a:defRPr>
            </a:defPPr>
            <a:lvl1pPr algn="l">
              <a:defRPr sz="13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1pPr>
            <a:lvl2pPr algn="l">
              <a:defRPr sz="13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2pPr>
            <a:lvl3pPr algn="l">
              <a:defRPr sz="13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3pPr>
            <a:lvl4pPr algn="l">
              <a:defRPr sz="13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4pPr>
            <a:lvl5pPr algn="l">
              <a:defRPr sz="13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5pPr>
            <a:lvl6pPr algn="l">
              <a:defRPr sz="13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6pPr>
            <a:lvl7pPr algn="l">
              <a:defRPr sz="13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7pPr>
            <a:lvl8pPr algn="l">
              <a:defRPr sz="13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8pPr>
            <a:lvl9pPr algn="l">
              <a:defRPr sz="13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300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300">
                <a:solidFill>
                  <a:srgbClr val="A9BEC1"/>
                </a:solidFill>
                <a:latin typeface="Arial"/>
                <a:ea typeface="Arial"/>
                <a:cs typeface="Arial"/>
              </a:rPr>
              <a:t>Нормализованные координаты от 0 до 1.</a:t>
            </a:r>
            <a:endParaRPr sz="1300"/>
          </a:p>
          <a:p xmlns:a="http://schemas.openxmlformats.org/drawingml/2006/main">
            <a:pPr marL="0" indent="0" algn="l">
              <a:buNone/>
              <a:defRPr sz="1300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300">
                <a:solidFill>
                  <a:srgbClr val="A9BEC1"/>
                </a:solidFill>
                <a:latin typeface="Arial"/>
                <a:ea typeface="Arial"/>
                <a:cs typeface="Arial"/>
              </a:rPr>
              <a:t>Вход проверяется по нижней центральной точке рамки.</a:t>
            </a:r>
            <a:endParaRPr sz="1300"/>
          </a:p>
        </p:txBody>
      </p:sp>
      <p:pic>
        <p:nvPicPr>
          <p:cNvPr id="12" name="Image 0">
            <a:extLst xmlns:a="http://schemas.openxmlformats.org/drawingml/2006/main">
              <a:ext uri="{FF2B5EF4-FFF2-40B4-BE49-F238E27FC236}">
                <a16:creationId xmlns:a16="http://schemas.microsoft.com/office/drawing/2014/main" id="{3C9B2BEF-C22C-4A86-9AE5-ABD0242532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bcbe22b73042b5"/>
          <a:stretch xmlns:a="http://schemas.openxmlformats.org/drawingml/2006/main"/>
        </p:blipFill>
        <p:spPr>
          <a:xfrm xmlns:a="http://schemas.openxmlformats.org/drawingml/2006/main">
            <a:off x="5138928" y="2073176"/>
            <a:ext cx="6263640" cy="3525464"/>
          </a:xfrm>
          <a:prstGeom xmlns:a="http://schemas.openxmlformats.org/drawingml/2006/main" prst="rect">
            <a:avLst/>
          </a:prstGeom>
        </p:spPr>
      </p:pic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3AA9A8E-6B08-4A19-BC06-B4045E15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992" y="5669280"/>
            <a:ext cx="2404872" cy="301752"/>
          </a:xfrm>
          <a:prstGeom xmlns:a="http://schemas.openxmlformats.org/drawingml/2006/main" prst="roundRect">
            <a:avLst>
              <a:gd name="adj" fmla="val 39394"/>
            </a:avLst>
          </a:prstGeom>
          <a:solidFill xmlns:a="http://schemas.openxmlformats.org/drawingml/2006/main">
            <a:srgbClr val="15382B"/>
          </a:solidFill>
          <a:ln xmlns:a="http://schemas.openxmlformats.org/drawingml/2006/main" w="12700">
            <a:solidFill>
              <a:srgbClr val="2C7350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A7B0C5C-AC7C-4B96-A1D3-42AE15AD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5696712"/>
            <a:ext cx="218541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6EDA7"/>
                </a:solidFill>
                <a:latin typeface="Arial"/>
                <a:ea typeface="Arial"/>
                <a:cs typeface="Arial"/>
              </a:rPr>
              <a:t>ЭКРАН ПРИЛОЖЕНИЯ / DEMO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78985557"/>
      </p:ext>
    </p:extLst>
  </p:cSld>
</p:sld>
</file>

<file path=ppt/slides/slide5.xml><?xml version="1.0" encoding="utf-8"?>
<p:sld xmlns:p="http://schemas.openxmlformats.org/presentationml/2006/main" show="0">
  <p:cSld>
    <p:bg>
      <p:bgPr>
        <a:solidFill xmlns:a="http://schemas.openxmlformats.org/drawingml/2006/main">
          <a:srgbClr val="06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F823393-5347-4C86-A66A-FF49BF61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519672"/>
            <a:ext cx="6400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 spc="100">
                <a:solidFill>
                  <a:srgbClr val="7E969D"/>
                </a:solidFill>
                <a:latin typeface="Arial"/>
                <a:ea typeface="Arial"/>
                <a:cs typeface="Arial"/>
              </a:rPr>
              <a:t>SAFE SIGHT / LINQ TPU</a:t>
            </a:r>
            <a:endParaRPr sz="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EC949E1-6BEE-414F-A53F-1E089B92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E969D"/>
                </a:solidFill>
                <a:latin typeface="Arial"/>
                <a:ea typeface="Arial"/>
                <a:cs typeface="Arial"/>
              </a:rPr>
              <a:t>05</a:t>
            </a:r>
            <a:endParaRPr sz="1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574299C-75B1-4686-86A4-A783677D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5488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8333A"/>
            </a:solidFill>
            <a:prstDash val="solid"/>
            <a:headEnd type="none"/>
            <a:tailEnd type="none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449A609-1C91-4D44-BD12-2D4DDE4F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740664"/>
            <a:ext cx="109270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Пример 2 / одна тревога на один эпизод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A2F4048-61F9-4A36-9A53-D3F8510F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99032"/>
            <a:ext cx="107442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A9BEC1"/>
                </a:solidFill>
                <a:latin typeface="Arial"/>
                <a:ea typeface="Arial"/>
                <a:cs typeface="Arial"/>
              </a:rPr>
              <a:t>Короткое попадание в кадр ещё не должно создавать инцидент.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6A7DFEA-E507-4D33-8EA5-5C07BDE9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148840"/>
            <a:ext cx="3374136" cy="2313432"/>
          </a:xfrm>
          <a:prstGeom xmlns:a="http://schemas.openxmlformats.org/drawingml/2006/main" prst="roundRect">
            <a:avLst>
              <a:gd name="adj" fmla="val 5138"/>
            </a:avLst>
          </a:prstGeom>
          <a:solidFill xmlns:a="http://schemas.openxmlformats.org/drawingml/2006/main">
            <a:srgbClr val="102129"/>
          </a:solidFill>
          <a:ln xmlns:a="http://schemas.openxmlformats.org/drawingml/2006/main" w="12700">
            <a:solidFill>
              <a:srgbClr val="24434D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390145-D478-4266-9815-D0FB3686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404872"/>
            <a:ext cx="914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spc="130">
                <a:solidFill>
                  <a:srgbClr val="76EDA7"/>
                </a:solidFill>
                <a:latin typeface="Arial"/>
                <a:ea typeface="Arial"/>
                <a:cs typeface="Arial"/>
              </a:rPr>
              <a:t>1 / 3</a:t>
            </a:r>
            <a:endParaRPr sz="1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4B035B7-D51A-43A1-B24A-971E27C8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761488"/>
            <a:ext cx="2916936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Первое обнаружение</a:t>
            </a:r>
            <a:endParaRPr sz="1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3C9FED8-2ADC-44DB-BFDE-820BB0DD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419856"/>
            <a:ext cx="291693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A9BEC1"/>
                </a:solidFill>
                <a:latin typeface="Arial"/>
                <a:ea typeface="Arial"/>
                <a:cs typeface="Arial"/>
              </a:rPr>
              <a:t>Точка у ног находится</a:t>
            </a:r>
            <a:endParaRPr sz="1400"/>
          </a:p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A9BEC1"/>
                </a:solidFill>
                <a:latin typeface="Arial"/>
                <a:ea typeface="Arial"/>
                <a:cs typeface="Arial"/>
              </a:rPr>
              <a:t>внутри зоны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8A97A21-2273-4A87-AFDF-6DFC569A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936" y="3081528"/>
            <a:ext cx="274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>
                <a:solidFill>
                  <a:srgbClr val="76EDA7"/>
                </a:solidFill>
                <a:latin typeface="Arial"/>
                <a:ea typeface="Arial"/>
                <a:cs typeface="Arial"/>
              </a:rPr>
              <a:t>→</a:t>
            </a:r>
            <a:endParaRPr sz="2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B7E3597-0DF7-49D0-9ED0-3B6D780A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2148840"/>
            <a:ext cx="3374136" cy="2313432"/>
          </a:xfrm>
          <a:prstGeom xmlns:a="http://schemas.openxmlformats.org/drawingml/2006/main" prst="roundRect">
            <a:avLst>
              <a:gd name="adj" fmla="val 5138"/>
            </a:avLst>
          </a:prstGeom>
          <a:solidFill xmlns:a="http://schemas.openxmlformats.org/drawingml/2006/main">
            <a:srgbClr val="102129"/>
          </a:solidFill>
          <a:ln xmlns:a="http://schemas.openxmlformats.org/drawingml/2006/main" w="12700">
            <a:solidFill>
              <a:srgbClr val="24434D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530231B-C8B1-4F7D-98B7-5E498FA0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2404872"/>
            <a:ext cx="914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spc="130">
                <a:solidFill>
                  <a:srgbClr val="76EDA7"/>
                </a:solidFill>
                <a:latin typeface="Arial"/>
                <a:ea typeface="Arial"/>
                <a:cs typeface="Arial"/>
              </a:rPr>
              <a:t>2 / 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701597A-5856-488A-9ECF-6E400D83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2761488"/>
            <a:ext cx="2916936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Повторное обнаружение</a:t>
            </a:r>
            <a:endParaRPr sz="19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62F46DA-6806-487D-B02E-3E03F1E3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3419856"/>
            <a:ext cx="291693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A9BEC1"/>
                </a:solidFill>
                <a:latin typeface="Arial"/>
                <a:ea typeface="Arial"/>
                <a:cs typeface="Arial"/>
              </a:rPr>
              <a:t>Тот же трек снова</a:t>
            </a:r>
            <a:endParaRPr sz="1400"/>
          </a:p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A9BEC1"/>
                </a:solidFill>
                <a:latin typeface="Arial"/>
                <a:ea typeface="Arial"/>
                <a:cs typeface="Arial"/>
              </a:rPr>
              <a:t>внутри зоны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87DA736-8F10-4132-85FB-F8F33927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3081528"/>
            <a:ext cx="274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>
                <a:solidFill>
                  <a:srgbClr val="76EDA7"/>
                </a:solidFill>
                <a:latin typeface="Arial"/>
                <a:ea typeface="Arial"/>
                <a:cs typeface="Arial"/>
              </a:rPr>
              <a:t>→</a:t>
            </a:r>
            <a:endParaRPr sz="23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28BA13D-223E-4792-9EF6-95AE1AC1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2148840"/>
            <a:ext cx="3374136" cy="2313432"/>
          </a:xfrm>
          <a:prstGeom xmlns:a="http://schemas.openxmlformats.org/drawingml/2006/main" prst="roundRect">
            <a:avLst>
              <a:gd name="adj" fmla="val 5138"/>
            </a:avLst>
          </a:prstGeom>
          <a:solidFill xmlns:a="http://schemas.openxmlformats.org/drawingml/2006/main">
            <a:srgbClr val="102129"/>
          </a:solidFill>
          <a:ln xmlns:a="http://schemas.openxmlformats.org/drawingml/2006/main" w="12700">
            <a:solidFill>
              <a:srgbClr val="76EDA7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C920C4C-044B-44FE-A43C-29635607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2404872"/>
            <a:ext cx="914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spc="130">
                <a:solidFill>
                  <a:srgbClr val="76EDA7"/>
                </a:solidFill>
                <a:latin typeface="Arial"/>
                <a:ea typeface="Arial"/>
                <a:cs typeface="Arial"/>
              </a:rPr>
              <a:t>3 / 3</a:t>
            </a:r>
            <a:endParaRPr sz="10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FF98578-5B34-4DFB-8B1D-99338D37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2761488"/>
            <a:ext cx="2916936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Подтверждение</a:t>
            </a:r>
            <a:endParaRPr sz="19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D1D7C38-9362-4722-9E49-BCDFC534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3419856"/>
            <a:ext cx="291693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A9BEC1"/>
                </a:solidFill>
                <a:latin typeface="Arial"/>
                <a:ea typeface="Arial"/>
                <a:cs typeface="Arial"/>
              </a:rPr>
              <a:t>Третий результат:</a:t>
            </a:r>
            <a:endParaRPr sz="1400"/>
          </a:p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A9BEC1"/>
                </a:solidFill>
                <a:latin typeface="Arial"/>
                <a:ea typeface="Arial"/>
                <a:cs typeface="Arial"/>
              </a:rPr>
              <a:t>создаём запись и фото</a:t>
            </a:r>
            <a:endParaRPr sz="14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B84F1035-BCE4-4B14-8B41-617E2DA4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892040"/>
            <a:ext cx="10177272" cy="71323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B26"/>
          </a:solidFill>
          <a:ln xmlns:a="http://schemas.openxmlformats.org/drawingml/2006/main" w="12700">
            <a:solidFill>
              <a:srgbClr val="2F6A4D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B076CE3-D05B-4EAB-9E33-C6219331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5038344"/>
            <a:ext cx="96286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76EDA7"/>
                </a:solidFill>
                <a:latin typeface="Arial"/>
                <a:ea typeface="Arial"/>
                <a:cs typeface="Arial"/>
              </a:rPr>
              <a:t>Подавление дублей: повторное событие не создаётся, пока эпизод активен</a:t>
            </a:r>
            <a:endParaRPr sz="19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C57958E-0C15-4F71-B849-898BB6B4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099048"/>
            <a:ext cx="10515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defPPr>
            <a:lvl1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1pPr>
            <a:lvl2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2pPr>
            <a:lvl3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3pPr>
            <a:lvl4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4pPr>
            <a:lvl5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5pPr>
            <a:lvl6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6pPr>
            <a:lvl7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7pPr>
            <a:lvl8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8pPr>
            <a:lvl9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100" i="1">
                <a:solidFill>
                  <a:srgbClr val="A9BEC1"/>
                </a:solidFill>
                <a:latin typeface="Arial"/>
                <a:ea typeface="Arial"/>
                <a:cs typeface="Arial"/>
              </a:rPr>
              <a:t>Для зон нужны три последовательных наблюдения. Частота preview не заменяет подтверждение.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447561620"/>
      </p:ext>
    </p:extLst>
  </p:cSld>
</p:sld>
</file>

<file path=ppt/slides/slide6.xml><?xml version="1.0" encoding="utf-8"?>
<p:sld xmlns:p="http://schemas.openxmlformats.org/presentationml/2006/main" show="0">
  <p:cSld>
    <p:bg>
      <p:bgPr>
        <a:solidFill xmlns:a="http://schemas.openxmlformats.org/drawingml/2006/main">
          <a:srgbClr val="06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41281D8-DE6D-47A1-92E8-9F61F24F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519672"/>
            <a:ext cx="6400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 spc="100">
                <a:solidFill>
                  <a:srgbClr val="7E969D"/>
                </a:solidFill>
                <a:latin typeface="Arial"/>
                <a:ea typeface="Arial"/>
                <a:cs typeface="Arial"/>
              </a:rPr>
              <a:t>SAFE SIGHT / LINQ TPU</a:t>
            </a:r>
            <a:endParaRPr sz="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922ED88-494E-4857-A9C0-828B4F00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E969D"/>
                </a:solidFill>
                <a:latin typeface="Arial"/>
                <a:ea typeface="Arial"/>
                <a:cs typeface="Arial"/>
              </a:rPr>
              <a:t>06</a:t>
            </a:r>
            <a:endParaRPr sz="1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8BE21C5-4240-4244-A99C-7E7ABF05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5488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8333A"/>
            </a:solidFill>
            <a:prstDash val="solid"/>
            <a:headEnd type="none"/>
            <a:tailEnd type="none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F961672-09D7-4EB0-8D5A-D266B605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740664"/>
            <a:ext cx="109270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Пример 3 / журнал с доказательством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B4CCC37-C1BF-4B8C-8456-6E4E3FB3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99032"/>
            <a:ext cx="107442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A9BEC1"/>
                </a:solidFill>
                <a:latin typeface="Arial"/>
                <a:ea typeface="Arial"/>
                <a:cs typeface="Arial"/>
              </a:rPr>
              <a:t>После подтверждения SafeSight сохраняет кадр нарушения и метаданные события.</a:t>
            </a:r>
            <a:endParaRPr sz="1400"/>
          </a:p>
        </p:txBody>
      </p:sp>
      <p:pic>
        <p:nvPicPr>
          <p:cNvPr id="7" name="Image 0">
            <a:extLst xmlns:a="http://schemas.openxmlformats.org/drawingml/2006/main">
              <a:ext uri="{FF2B5EF4-FFF2-40B4-BE49-F238E27FC236}">
                <a16:creationId xmlns:a16="http://schemas.microsoft.com/office/drawing/2014/main" id="{DA49E8A9-D315-48A3-BEA5-C9BDA35F5B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b9383a594f4c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5216" y="2029968"/>
            <a:ext cx="5349240" cy="3191256"/>
          </a:xfrm>
          <a:prstGeom xmlns:a="http://schemas.openxmlformats.org/drawingml/2006/main" prst="rect">
            <a:avLst/>
          </a:prstGeom>
        </p:spPr>
      </p:pic>
      <p:pic>
        <p:nvPicPr>
          <p:cNvPr id="8" name="Image 1">
            <a:extLst xmlns:a="http://schemas.openxmlformats.org/drawingml/2006/main">
              <a:ext uri="{FF2B5EF4-FFF2-40B4-BE49-F238E27FC236}">
                <a16:creationId xmlns:a16="http://schemas.microsoft.com/office/drawing/2014/main" id="{52D8B0C3-D43C-445C-84F2-5418A1C2B2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80e0022414f68"/>
          <a:stretch xmlns:a="http://schemas.openxmlformats.org/drawingml/2006/main"/>
        </p:blipFill>
        <p:spPr>
          <a:xfrm xmlns:a="http://schemas.openxmlformats.org/drawingml/2006/main">
            <a:off x="6254496" y="2120197"/>
            <a:ext cx="5349240" cy="3010798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508EC26E-4809-48A8-A8F4-96694117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285232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Иллюстрация сцены</a:t>
            </a:r>
            <a:endParaRPr sz="18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2344C5C3-6684-4FD1-888E-5CD21271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5285232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8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6EDA7"/>
                </a:solidFill>
                <a:latin typeface="Arial"/>
                <a:ea typeface="Arial"/>
                <a:cs typeface="Arial"/>
              </a:rPr>
              <a:t>Текущий журнал / DEMO</a:t>
            </a:r>
            <a:endParaRPr sz="18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C1F76480-8724-4171-9C27-3DCC3EFC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099048"/>
            <a:ext cx="10515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defPPr>
            <a:lvl1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1pPr>
            <a:lvl2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2pPr>
            <a:lvl3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3pPr>
            <a:lvl4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4pPr>
            <a:lvl5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5pPr>
            <a:lvl6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6pPr>
            <a:lvl7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7pPr>
            <a:lvl8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8pPr>
            <a:lvl9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100" i="1">
                <a:solidFill>
                  <a:srgbClr val="A9BEC1"/>
                </a:solidFill>
                <a:latin typeface="Arial"/>
                <a:ea typeface="Arial"/>
                <a:cs typeface="Arial"/>
              </a:rPr>
              <a:t>Слева иллюстрация из макета. Справа реальный интерфейс DEMO с отдельным журналом и JPEG.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5713721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41A42A6-3404-45DD-81C2-8710FEFC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519672"/>
            <a:ext cx="6400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 spc="100">
                <a:solidFill>
                  <a:srgbClr val="7E969D"/>
                </a:solidFill>
                <a:latin typeface="Arial"/>
                <a:ea typeface="Arial"/>
                <a:cs typeface="Arial"/>
              </a:rPr>
              <a:t>SAFE SIGHT / LINQ TPU</a:t>
            </a:r>
            <a:endParaRPr sz="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6DFB369-393F-4960-BE1F-FDD2A5E6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E969D"/>
                </a:solidFill>
                <a:latin typeface="Arial"/>
                <a:ea typeface="Arial"/>
                <a:cs typeface="Arial"/>
              </a:rPr>
              <a:t>07</a:t>
            </a:r>
            <a:endParaRPr sz="1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E2EAD00-9870-4698-A349-E3C9C072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5488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8333A"/>
            </a:solidFill>
            <a:prstDash val="solid"/>
            <a:headEnd type="none"/>
            <a:tailEnd type="none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4699082-3F94-4FDD-B2C6-278677B8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740664"/>
            <a:ext cx="109270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Два детектора — одна система событий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C49F413-6FE3-417A-900C-124272C9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99032"/>
            <a:ext cx="107442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defPPr>
            <a:lvl1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1pPr>
            <a:lvl2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2pPr>
            <a:lvl3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3pPr>
            <a:lvl4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4pPr>
            <a:lvl5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5pPr>
            <a:lvl6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6pPr>
            <a:lvl7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7pPr>
            <a:lvl8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8pPr>
            <a:lvl9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A9BEC1"/>
                </a:solidFill>
                <a:latin typeface="Arial"/>
                <a:ea typeface="Arial"/>
                <a:cs typeface="Arial"/>
              </a:rPr>
              <a:t>Общий журнал объединяет людей, контроль зон и экспериментальные сценарии SafetyVision.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94AE379-9855-4555-BB1F-A43251F7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993392"/>
            <a:ext cx="5340096" cy="3255264"/>
          </a:xfrm>
          <a:prstGeom xmlns:a="http://schemas.openxmlformats.org/drawingml/2006/main" prst="roundRect">
            <a:avLst>
              <a:gd name="adj" fmla="val 3652"/>
            </a:avLst>
          </a:prstGeom>
          <a:solidFill xmlns:a="http://schemas.openxmlformats.org/drawingml/2006/main">
            <a:srgbClr val="102129"/>
          </a:solidFill>
          <a:ln xmlns:a="http://schemas.openxmlformats.org/drawingml/2006/main" w="12700">
            <a:solidFill>
              <a:srgbClr val="76EDA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44DE215-3AA4-4050-9431-E4B47B17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67712"/>
            <a:ext cx="4572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defPPr>
            <a:lvl1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1pPr>
            <a:lvl2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2pPr>
            <a:lvl3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3pPr>
            <a:lvl4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4pPr>
            <a:lvl5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5pPr>
            <a:lvl6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6pPr>
            <a:lvl7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7pPr>
            <a:lvl8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8pPr>
            <a:lvl9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pPr>
            <a:r>
              <a:rPr sz="1000" b="1" spc="130">
                <a:solidFill>
                  <a:srgbClr val="76EDA7"/>
                </a:solidFill>
                <a:latin typeface="Arial"/>
                <a:ea typeface="Arial"/>
                <a:cs typeface="Arial"/>
              </a:rPr>
              <a:t>ОСНОВНОЙ СЦЕНАРИЙ / ЛЮДИ И ЗОНЫ</a:t>
            </a:r>
            <a:endParaRPr sz="1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898B885-01FB-4095-9D8E-38241DD4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34056"/>
            <a:ext cx="4572000" cy="557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1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YOLOv8n</a:t>
            </a:r>
            <a:endParaRPr sz="3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4401B1C-FF3A-48CD-8FBE-18A2FFA2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429000"/>
            <a:ext cx="4480560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76EDA7"/>
                </a:solidFill>
                <a:latin typeface="Arial"/>
                <a:ea typeface="Arial"/>
                <a:cs typeface="Arial"/>
              </a:rPr>
              <a:t>Люди → опасная зона</a:t>
            </a:r>
            <a:endParaRPr sz="2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4630AA0-EED0-4865-A877-A2B1F671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197096"/>
            <a:ext cx="4425696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>
                <a:solidFill>
                  <a:srgbClr val="A9BEC1"/>
                </a:solidFill>
                <a:latin typeface="Arial"/>
                <a:ea typeface="Arial"/>
                <a:cs typeface="Arial"/>
              </a:defRPr>
            </a:defPPr>
            <a:lvl1pPr algn="l">
              <a:defRPr sz="15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1pPr>
            <a:lvl2pPr algn="l">
              <a:defRPr sz="15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2pPr>
            <a:lvl3pPr algn="l">
              <a:defRPr sz="15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3pPr>
            <a:lvl4pPr algn="l">
              <a:defRPr sz="15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4pPr>
            <a:lvl5pPr algn="l">
              <a:defRPr sz="15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5pPr>
            <a:lvl6pPr algn="l">
              <a:defRPr sz="15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6pPr>
            <a:lvl7pPr algn="l">
              <a:defRPr sz="15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7pPr>
            <a:lvl8pPr algn="l">
              <a:defRPr sz="15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8pPr>
            <a:lvl9pPr algn="l">
              <a:defRPr sz="15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500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A9BEC1"/>
                </a:solidFill>
                <a:latin typeface="Arial"/>
                <a:ea typeface="Arial"/>
                <a:cs typeface="Arial"/>
              </a:rPr>
              <a:t>Аппаратный путь через LinQ TPU.</a:t>
            </a:r>
            <a:endParaRPr sz="1500"/>
          </a:p>
          <a:p xmlns:a="http://schemas.openxmlformats.org/drawingml/2006/main">
            <a:pPr marL="0" indent="0" algn="l">
              <a:buNone/>
              <a:defRPr sz="1500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A9BEC1"/>
                </a:solidFill>
                <a:latin typeface="Arial"/>
                <a:ea typeface="Arial"/>
                <a:cs typeface="Arial"/>
              </a:rPr>
              <a:t>Контроль зон, предупреждения и архив evidence.</a:t>
            </a:r>
            <a:endParaRPr sz="15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07B68F8-D12E-4EED-A06D-77C27EAB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1993392"/>
            <a:ext cx="5340096" cy="3255264"/>
          </a:xfrm>
          <a:prstGeom xmlns:a="http://schemas.openxmlformats.org/drawingml/2006/main" prst="roundRect">
            <a:avLst>
              <a:gd name="adj" fmla="val 3652"/>
            </a:avLst>
          </a:prstGeom>
          <a:solidFill xmlns:a="http://schemas.openxmlformats.org/drawingml/2006/main">
            <a:srgbClr val="102129"/>
          </a:solidFill>
          <a:ln xmlns:a="http://schemas.openxmlformats.org/drawingml/2006/main" w="12700">
            <a:solidFill>
              <a:srgbClr val="4B5F65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7793125-D9BD-4C41-A5C3-C9552FAD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2267712"/>
            <a:ext cx="4791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defPPr>
            <a:lvl1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1pPr>
            <a:lvl2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2pPr>
            <a:lvl3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3pPr>
            <a:lvl4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4pPr>
            <a:lvl5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5pPr>
            <a:lvl6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6pPr>
            <a:lvl7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7pPr>
            <a:lvl8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8pPr>
            <a:lvl9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pPr>
            <a:r>
              <a:rPr sz="1000" b="1" spc="130">
                <a:solidFill>
                  <a:srgbClr val="76EDA7"/>
                </a:solidFill>
                <a:latin typeface="Arial"/>
                <a:ea typeface="Arial"/>
                <a:cs typeface="Arial"/>
              </a:rPr>
              <a:t>ДОПОЛНИТЕЛЬНЫЙ СЦЕНАРИЙ / ПИЛОТ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C029AE4-82D5-4C70-8396-7C5DC52A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2734056"/>
            <a:ext cx="4636008" cy="557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SafetyVision v2</a:t>
            </a:r>
            <a:endParaRPr sz="29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AE5F787-8677-4801-8582-1AF89DBF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3429000"/>
            <a:ext cx="4507992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76EDA7"/>
                </a:solidFill>
                <a:latin typeface="Arial"/>
                <a:ea typeface="Arial"/>
                <a:cs typeface="Arial"/>
              </a:rPr>
              <a:t>Падения и СИЗ</a:t>
            </a:r>
            <a:endParaRPr sz="21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7B6AE77-2E04-4D35-BD3B-731DD7A7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4197096"/>
            <a:ext cx="4443984" cy="7955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>
                <a:solidFill>
                  <a:srgbClr val="A9BEC1"/>
                </a:solidFill>
                <a:latin typeface="Arial"/>
                <a:ea typeface="Arial"/>
                <a:cs typeface="Arial"/>
              </a:defRPr>
            </a:defPPr>
            <a:lvl1pPr algn="l">
              <a:defRPr sz="15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1pPr>
            <a:lvl2pPr algn="l">
              <a:defRPr sz="15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2pPr>
            <a:lvl3pPr algn="l">
              <a:defRPr sz="15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3pPr>
            <a:lvl4pPr algn="l">
              <a:defRPr sz="15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4pPr>
            <a:lvl5pPr algn="l">
              <a:defRPr sz="15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5pPr>
            <a:lvl6pPr algn="l">
              <a:defRPr sz="15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6pPr>
            <a:lvl7pPr algn="l">
              <a:defRPr sz="15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7pPr>
            <a:lvl8pPr algn="l">
              <a:defRPr sz="15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8pPr>
            <a:lvl9pPr algn="l">
              <a:defRPr sz="15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500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A9BEC1"/>
                </a:solidFill>
                <a:latin typeface="Arial"/>
                <a:ea typeface="Arial"/>
                <a:cs typeface="Arial"/>
              </a:rPr>
              <a:t>Сопоставление СИЗ с человеком.</a:t>
            </a:r>
            <a:endParaRPr sz="1500"/>
          </a:p>
          <a:p xmlns:a="http://schemas.openxmlformats.org/drawingml/2006/main">
            <a:pPr marL="0" indent="0" algn="l">
              <a:buNone/>
              <a:defRPr sz="1500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A9BEC1"/>
                </a:solidFill>
                <a:latin typeface="Arial"/>
                <a:ea typeface="Arial"/>
                <a:cs typeface="Arial"/>
              </a:rPr>
              <a:t>Подтверждение по нескольким наблюдениям.</a:t>
            </a:r>
            <a:endParaRPr sz="15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A90C90B-AC22-4E7D-8C8F-8FD7222E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099048"/>
            <a:ext cx="10515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defPPr>
            <a:lvl1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1pPr>
            <a:lvl2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2pPr>
            <a:lvl3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3pPr>
            <a:lvl4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4pPr>
            <a:lvl5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5pPr>
            <a:lvl6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6pPr>
            <a:lvl7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7pPr>
            <a:lvl8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8pPr>
            <a:lvl9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100" i="1">
                <a:solidFill>
                  <a:srgbClr val="A9BEC1"/>
                </a:solidFill>
                <a:latin typeface="Arial"/>
                <a:ea typeface="Arial"/>
                <a:cs typeface="Arial"/>
              </a:rPr>
              <a:t>Контроль отсутствия каски дорабатывается. Перед внедрением нужна проверка на видео площадки.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5874926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74DAFAC-F45A-4E02-BAE8-D8620C87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519672"/>
            <a:ext cx="6400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 spc="100">
                <a:solidFill>
                  <a:srgbClr val="7E969D"/>
                </a:solidFill>
                <a:latin typeface="Arial"/>
                <a:ea typeface="Arial"/>
                <a:cs typeface="Arial"/>
              </a:rPr>
              <a:t>SAFE SIGHT / LINQ TPU</a:t>
            </a:r>
            <a:endParaRPr sz="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C9B562A-797B-4671-84E9-D6613B7F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E969D"/>
                </a:solidFill>
                <a:latin typeface="Arial"/>
                <a:ea typeface="Arial"/>
                <a:cs typeface="Arial"/>
              </a:rPr>
              <a:t>08</a:t>
            </a:r>
            <a:endParaRPr sz="1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C291C0B-8D8A-430F-ACB6-215AAD05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5488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8333A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3502F80-8EB2-4485-AD80-AE768B58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740664"/>
            <a:ext cx="109270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30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Подтверждённые результаты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EB0F47A-1DA2-40BB-872A-E7909485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99032"/>
            <a:ext cx="107442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defPPr>
            <a:lvl1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1pPr>
            <a:lvl2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2pPr>
            <a:lvl3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3pPr>
            <a:lvl4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4pPr>
            <a:lvl5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5pPr>
            <a:lvl6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6pPr>
            <a:lvl7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7pPr>
            <a:lvl8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8pPr>
            <a:lvl9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A9BEC1"/>
                </a:solidFill>
                <a:latin typeface="Arial"/>
                <a:ea typeface="Arial"/>
                <a:cs typeface="Arial"/>
              </a:rPr>
              <a:t>Локальный ONNX: диагностическая выборка из 20 интернет-снимков.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9AB8E56-FC7A-4568-A3E6-D1A7952E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6675120" cy="3575304"/>
          </a:xfrm>
          <a:prstGeom xmlns:a="http://schemas.openxmlformats.org/drawingml/2006/main" prst="roundRect">
            <a:avLst>
              <a:gd name="adj" fmla="val 3325"/>
            </a:avLst>
          </a:prstGeom>
          <a:solidFill xmlns:a="http://schemas.openxmlformats.org/drawingml/2006/main">
            <a:srgbClr val="102129"/>
          </a:solidFill>
          <a:ln xmlns:a="http://schemas.openxmlformats.org/drawingml/2006/main" w="12700">
            <a:solidFill>
              <a:srgbClr val="102129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63E4DD5-C134-44C8-A6B3-93CAF10D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31136"/>
            <a:ext cx="49377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defPPr>
            <a:lvl1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1pPr>
            <a:lvl2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2pPr>
            <a:lvl3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3pPr>
            <a:lvl4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4pPr>
            <a:lvl5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5pPr>
            <a:lvl6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6pPr>
            <a:lvl7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7pPr>
            <a:lvl8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8pPr>
            <a:lvl9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pPr>
            <a:r>
              <a:rPr sz="1000" b="1" spc="130">
                <a:solidFill>
                  <a:srgbClr val="76EDA7"/>
                </a:solidFill>
                <a:latin typeface="Arial"/>
                <a:ea typeface="Arial"/>
                <a:cs typeface="Arial"/>
              </a:rPr>
              <a:t>ЛЮДИ И ПАДЕНИЯ / LOCAL ONNX CPU</a:t>
            </a:r>
            <a:endParaRPr sz="1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EB4B4F4-551B-48BD-8083-F9B84B2A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697480"/>
            <a:ext cx="2743200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8049"/>
          </a:bodyPr>
          <a:lstStyle xmlns:a="http://schemas.openxmlformats.org/drawingml/2006/main">
            <a:defPPr algn="l">
              <a:defRPr sz="41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defPPr>
            <a:lvl1pPr algn="l">
              <a:defRPr sz="41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1pPr>
            <a:lvl2pPr algn="l">
              <a:defRPr sz="41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2pPr>
            <a:lvl3pPr algn="l">
              <a:defRPr sz="41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3pPr>
            <a:lvl4pPr algn="l">
              <a:defRPr sz="41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4pPr>
            <a:lvl5pPr algn="l">
              <a:defRPr sz="41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5pPr>
            <a:lvl6pPr algn="l">
              <a:defRPr sz="41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6pPr>
            <a:lvl7pPr algn="l">
              <a:defRPr sz="41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7pPr>
            <a:lvl8pPr algn="l">
              <a:defRPr sz="41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8pPr>
            <a:lvl9pPr algn="l">
              <a:defRPr sz="41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41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pPr>
            <a:r>
              <a:rPr sz="41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92,6</a:t>
            </a:r>
            <a:endParaRPr sz="4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2D9A6D9-CB55-49AE-96D8-D8916BC3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8376" y="2953512"/>
            <a:ext cx="914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>
                <a:solidFill>
                  <a:srgbClr val="A9BEC1"/>
                </a:solidFill>
                <a:latin typeface="Arial"/>
                <a:ea typeface="Arial"/>
                <a:cs typeface="Arial"/>
              </a:defRPr>
            </a:defPPr>
            <a:lvl1pPr algn="l">
              <a:defRPr sz="18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1pPr>
            <a:lvl2pPr algn="l">
              <a:defRPr sz="18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2pPr>
            <a:lvl3pPr algn="l">
              <a:defRPr sz="18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3pPr>
            <a:lvl4pPr algn="l">
              <a:defRPr sz="18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4pPr>
            <a:lvl5pPr algn="l">
              <a:defRPr sz="18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5pPr>
            <a:lvl6pPr algn="l">
              <a:defRPr sz="18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6pPr>
            <a:lvl7pPr algn="l">
              <a:defRPr sz="18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7pPr>
            <a:lvl8pPr algn="l">
              <a:defRPr sz="18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8pPr>
            <a:lvl9pPr algn="l">
              <a:defRPr sz="18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800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BEC1"/>
                </a:solidFill>
                <a:latin typeface="Arial"/>
                <a:ea typeface="Arial"/>
                <a:cs typeface="Arial"/>
              </a:rPr>
              <a:t>%</a:t>
            </a:r>
            <a:endParaRPr sz="1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145D1B4-F2B3-4215-9BF7-243DC2FD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2907792"/>
            <a:ext cx="22677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00">
                <a:solidFill>
                  <a:srgbClr val="A9BEC1"/>
                </a:solidFill>
                <a:latin typeface="Arial"/>
                <a:ea typeface="Arial"/>
                <a:cs typeface="Arial"/>
              </a:defRPr>
            </a:defPPr>
            <a:lvl1pPr algn="l">
              <a:defRPr sz="16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1pPr>
            <a:lvl2pPr algn="l">
              <a:defRPr sz="16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2pPr>
            <a:lvl3pPr algn="l">
              <a:defRPr sz="16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3pPr>
            <a:lvl4pPr algn="l">
              <a:defRPr sz="16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4pPr>
            <a:lvl5pPr algn="l">
              <a:defRPr sz="16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5pPr>
            <a:lvl6pPr algn="l">
              <a:defRPr sz="16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6pPr>
            <a:lvl7pPr algn="l">
              <a:defRPr sz="16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7pPr>
            <a:lvl8pPr algn="l">
              <a:defRPr sz="16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8pPr>
            <a:lvl9pPr algn="l">
              <a:defRPr sz="16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600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A9BEC1"/>
                </a:solidFill>
                <a:latin typeface="Arial"/>
                <a:ea typeface="Arial"/>
                <a:cs typeface="Arial"/>
              </a:rPr>
              <a:t>Precision людей</a:t>
            </a:r>
            <a:endParaRPr sz="16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AE7EABF-2A90-46D6-8A89-347C88F4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38144"/>
            <a:ext cx="5971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C52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D7F7FAA-6A99-4AEA-A118-143C3625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712464"/>
            <a:ext cx="276148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1304"/>
          </a:bodyPr>
          <a:lstStyle xmlns:a="http://schemas.openxmlformats.org/drawingml/2006/main">
            <a:defPPr algn="l">
              <a:defRPr sz="46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defPPr>
            <a:lvl1pPr algn="l">
              <a:defRPr sz="46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1pPr>
            <a:lvl2pPr algn="l">
              <a:defRPr sz="46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2pPr>
            <a:lvl3pPr algn="l">
              <a:defRPr sz="46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3pPr>
            <a:lvl4pPr algn="l">
              <a:defRPr sz="46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4pPr>
            <a:lvl5pPr algn="l">
              <a:defRPr sz="46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5pPr>
            <a:lvl6pPr algn="l">
              <a:defRPr sz="46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6pPr>
            <a:lvl7pPr algn="l">
              <a:defRPr sz="46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7pPr>
            <a:lvl8pPr algn="l">
              <a:defRPr sz="46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8pPr>
            <a:lvl9pPr algn="l">
              <a:defRPr sz="46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46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pPr>
            <a:r>
              <a:rPr sz="4600" b="1">
                <a:solidFill>
                  <a:srgbClr val="76EDA7"/>
                </a:solidFill>
                <a:latin typeface="Arial"/>
                <a:ea typeface="Arial"/>
                <a:cs typeface="Arial"/>
              </a:rPr>
              <a:t>80</a:t>
            </a:r>
            <a:endParaRPr sz="4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7730386-F297-4A7B-9C4E-FF04D597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3995928"/>
            <a:ext cx="777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>
                <a:solidFill>
                  <a:srgbClr val="76EDA7"/>
                </a:solidFill>
                <a:latin typeface="Arial"/>
                <a:ea typeface="Arial"/>
                <a:cs typeface="Arial"/>
              </a:defRPr>
            </a:defPPr>
            <a:lvl1pPr algn="l">
              <a:defRPr sz="1800">
                <a:solidFill>
                  <a:srgbClr val="76EDA7"/>
                </a:solidFill>
                <a:latin typeface="Arial"/>
                <a:ea typeface="Arial"/>
                <a:cs typeface="Arial"/>
              </a:defRPr>
            </a:lvl1pPr>
            <a:lvl2pPr algn="l">
              <a:defRPr sz="1800">
                <a:solidFill>
                  <a:srgbClr val="76EDA7"/>
                </a:solidFill>
                <a:latin typeface="Arial"/>
                <a:ea typeface="Arial"/>
                <a:cs typeface="Arial"/>
              </a:defRPr>
            </a:lvl2pPr>
            <a:lvl3pPr algn="l">
              <a:defRPr sz="1800">
                <a:solidFill>
                  <a:srgbClr val="76EDA7"/>
                </a:solidFill>
                <a:latin typeface="Arial"/>
                <a:ea typeface="Arial"/>
                <a:cs typeface="Arial"/>
              </a:defRPr>
            </a:lvl3pPr>
            <a:lvl4pPr algn="l">
              <a:defRPr sz="1800">
                <a:solidFill>
                  <a:srgbClr val="76EDA7"/>
                </a:solidFill>
                <a:latin typeface="Arial"/>
                <a:ea typeface="Arial"/>
                <a:cs typeface="Arial"/>
              </a:defRPr>
            </a:lvl4pPr>
            <a:lvl5pPr algn="l">
              <a:defRPr sz="1800">
                <a:solidFill>
                  <a:srgbClr val="76EDA7"/>
                </a:solidFill>
                <a:latin typeface="Arial"/>
                <a:ea typeface="Arial"/>
                <a:cs typeface="Arial"/>
              </a:defRPr>
            </a:lvl5pPr>
            <a:lvl6pPr algn="l">
              <a:defRPr sz="1800">
                <a:solidFill>
                  <a:srgbClr val="76EDA7"/>
                </a:solidFill>
                <a:latin typeface="Arial"/>
                <a:ea typeface="Arial"/>
                <a:cs typeface="Arial"/>
              </a:defRPr>
            </a:lvl6pPr>
            <a:lvl7pPr algn="l">
              <a:defRPr sz="1800">
                <a:solidFill>
                  <a:srgbClr val="76EDA7"/>
                </a:solidFill>
                <a:latin typeface="Arial"/>
                <a:ea typeface="Arial"/>
                <a:cs typeface="Arial"/>
              </a:defRPr>
            </a:lvl7pPr>
            <a:lvl8pPr algn="l">
              <a:defRPr sz="1800">
                <a:solidFill>
                  <a:srgbClr val="76EDA7"/>
                </a:solidFill>
                <a:latin typeface="Arial"/>
                <a:ea typeface="Arial"/>
                <a:cs typeface="Arial"/>
              </a:defRPr>
            </a:lvl8pPr>
            <a:lvl9pPr algn="l">
              <a:defRPr sz="1800">
                <a:solidFill>
                  <a:srgbClr val="76ED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800">
                <a:solidFill>
                  <a:srgbClr val="76EDA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76EDA7"/>
                </a:solidFill>
                <a:latin typeface="Arial"/>
                <a:ea typeface="Arial"/>
                <a:cs typeface="Arial"/>
              </a:rPr>
              <a:t>%</a:t>
            </a:r>
            <a:endParaRPr sz="1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2614391-EE62-4F02-8409-76B6A403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3941064"/>
            <a:ext cx="2258568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defPPr>
            <a:lvl1pPr algn="l">
              <a:defRPr sz="16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1pPr>
            <a:lvl2pPr algn="l">
              <a:defRPr sz="16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2pPr>
            <a:lvl3pPr algn="l">
              <a:defRPr sz="16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3pPr>
            <a:lvl4pPr algn="l">
              <a:defRPr sz="16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4pPr>
            <a:lvl5pPr algn="l">
              <a:defRPr sz="16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5pPr>
            <a:lvl6pPr algn="l">
              <a:defRPr sz="16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6pPr>
            <a:lvl7pPr algn="l">
              <a:defRPr sz="16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7pPr>
            <a:lvl8pPr algn="l">
              <a:defRPr sz="16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8pPr>
            <a:lvl9pPr algn="l">
              <a:defRPr sz="16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6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76EDA7"/>
                </a:solidFill>
                <a:latin typeface="Arial"/>
                <a:ea typeface="Arial"/>
                <a:cs typeface="Arial"/>
              </a:rPr>
              <a:t>Recall падений</a:t>
            </a:r>
            <a:endParaRPr sz="16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1693025-286E-4B1F-9F25-66D7A0DD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764024"/>
            <a:ext cx="2999232" cy="301752"/>
          </a:xfrm>
          <a:prstGeom xmlns:a="http://schemas.openxmlformats.org/drawingml/2006/main" prst="roundRect">
            <a:avLst>
              <a:gd name="adj" fmla="val 39394"/>
            </a:avLst>
          </a:prstGeom>
          <a:solidFill xmlns:a="http://schemas.openxmlformats.org/drawingml/2006/main">
            <a:srgbClr val="15382B"/>
          </a:solidFill>
          <a:ln xmlns:a="http://schemas.openxmlformats.org/drawingml/2006/main" w="12700">
            <a:solidFill>
              <a:srgbClr val="2C73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C6689AC-3136-4939-A85D-526B3430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4791456"/>
            <a:ext cx="277977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6EDA7"/>
                </a:solidFill>
                <a:latin typeface="Arial"/>
                <a:ea typeface="Arial"/>
                <a:cs typeface="Arial"/>
              </a:rPr>
              <a:t>IoU ≥ 0,5 / 20 снимков</a:t>
            </a:r>
            <a:endParaRPr sz="9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178A017E-B305-496C-99EA-36FBDD9A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2" y="1965960"/>
            <a:ext cx="3986784" cy="1609344"/>
          </a:xfrm>
          <a:prstGeom xmlns:a="http://schemas.openxmlformats.org/drawingml/2006/main" prst="roundRect">
            <a:avLst>
              <a:gd name="adj" fmla="val 7386"/>
            </a:avLst>
          </a:prstGeom>
          <a:solidFill xmlns:a="http://schemas.openxmlformats.org/drawingml/2006/main">
            <a:srgbClr val="102A28"/>
          </a:solidFill>
          <a:ln xmlns:a="http://schemas.openxmlformats.org/drawingml/2006/main" w="12700">
            <a:solidFill>
              <a:srgbClr val="2D78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C5558C3-2666-45B3-AF6D-F48CBAD0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2203704"/>
            <a:ext cx="3017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defPPr>
            <a:lvl1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1pPr>
            <a:lvl2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2pPr>
            <a:lvl3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3pPr>
            <a:lvl4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4pPr>
            <a:lvl5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5pPr>
            <a:lvl6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6pPr>
            <a:lvl7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7pPr>
            <a:lvl8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8pPr>
            <a:lvl9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pPr>
            <a:r>
              <a:rPr sz="1000" b="1" spc="130">
                <a:solidFill>
                  <a:srgbClr val="76EDA7"/>
                </a:solidFill>
                <a:latin typeface="Arial"/>
                <a:ea typeface="Arial"/>
                <a:cs typeface="Arial"/>
              </a:rPr>
              <a:t>НАЛИЧИЕ КАСКИ / HARDHAT</a:t>
            </a:r>
            <a:endParaRPr sz="1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F6978EC-1C19-496F-80C7-7E22DF37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624328"/>
            <a:ext cx="332841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defPPr>
            <a:lvl1pPr algn="l">
              <a:defRPr sz="26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1pPr>
            <a:lvl2pPr algn="l">
              <a:defRPr sz="26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2pPr>
            <a:lvl3pPr algn="l">
              <a:defRPr sz="26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3pPr>
            <a:lvl4pPr algn="l">
              <a:defRPr sz="26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4pPr>
            <a:lvl5pPr algn="l">
              <a:defRPr sz="26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5pPr>
            <a:lvl6pPr algn="l">
              <a:defRPr sz="26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6pPr>
            <a:lvl7pPr algn="l">
              <a:defRPr sz="26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7pPr>
            <a:lvl8pPr algn="l">
              <a:defRPr sz="26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8pPr>
            <a:lvl9pPr algn="l">
              <a:defRPr sz="26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26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100% / 80%</a:t>
            </a:r>
            <a:endParaRPr sz="2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2873298-5FF6-48C4-8246-D1E681D0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3182112"/>
            <a:ext cx="340156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defPPr>
            <a:lvl1pPr algn="l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1pPr>
            <a:lvl2pPr algn="l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2pPr>
            <a:lvl3pPr algn="l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3pPr>
            <a:lvl4pPr algn="l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4pPr>
            <a:lvl5pPr algn="l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5pPr>
            <a:lvl6pPr algn="l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6pPr>
            <a:lvl7pPr algn="l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7pPr>
            <a:lvl8pPr algn="l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8pPr>
            <a:lvl9pPr algn="l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100">
                <a:solidFill>
                  <a:srgbClr val="A9BEC1"/>
                </a:solidFill>
                <a:latin typeface="Arial"/>
                <a:ea typeface="Arial"/>
                <a:cs typeface="Arial"/>
              </a:rPr>
              <a:t>Precision / recall, 10 кадров</a:t>
            </a:r>
            <a:endParaRPr sz="11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DB1FF090-C2EB-41E0-A28C-EF0F7A65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2" y="3785616"/>
            <a:ext cx="3986784" cy="1755648"/>
          </a:xfrm>
          <a:prstGeom xmlns:a="http://schemas.openxmlformats.org/drawingml/2006/main" prst="roundRect">
            <a:avLst>
              <a:gd name="adj" fmla="val 6771"/>
            </a:avLst>
          </a:prstGeom>
          <a:solidFill xmlns:a="http://schemas.openxmlformats.org/drawingml/2006/main">
            <a:srgbClr val="102129"/>
          </a:solidFill>
          <a:ln xmlns:a="http://schemas.openxmlformats.org/drawingml/2006/main" w="12700">
            <a:solidFill>
              <a:srgbClr val="102129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5510644-2EA1-4A91-B0AE-80FECF41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4032504"/>
            <a:ext cx="33375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defPPr>
            <a:lvl1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1pPr>
            <a:lvl2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2pPr>
            <a:lvl3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3pPr>
            <a:lvl4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4pPr>
            <a:lvl5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5pPr>
            <a:lvl6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6pPr>
            <a:lvl7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7pPr>
            <a:lvl8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8pPr>
            <a:lvl9pPr algn="l"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0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pPr>
            <a:r>
              <a:rPr sz="1000" b="1" spc="130">
                <a:solidFill>
                  <a:srgbClr val="76EDA7"/>
                </a:solidFill>
                <a:latin typeface="Arial"/>
                <a:ea typeface="Arial"/>
                <a:cs typeface="Arial"/>
              </a:rPr>
              <a:t>ПРОВЕРКА ПРИЛОЖЕНИЯ</a:t>
            </a:r>
            <a:endParaRPr sz="10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7CEBABC-0C09-4217-836D-5B54E573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4517136"/>
            <a:ext cx="3429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24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76EDA7"/>
                </a:solidFill>
                <a:latin typeface="Arial"/>
                <a:ea typeface="Arial"/>
                <a:cs typeface="Arial"/>
              </a:rPr>
              <a:t>112 + 9</a:t>
            </a:r>
            <a:endParaRPr sz="24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DD07DE5-DF5A-451B-8D41-32C4A358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5001768"/>
            <a:ext cx="339242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defPPr>
            <a:lvl1pPr algn="l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1pPr>
            <a:lvl2pPr algn="l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2pPr>
            <a:lvl3pPr algn="l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3pPr>
            <a:lvl4pPr algn="l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4pPr>
            <a:lvl5pPr algn="l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5pPr>
            <a:lvl6pPr algn="l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6pPr>
            <a:lvl7pPr algn="l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7pPr>
            <a:lvl8pPr algn="l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8pPr>
            <a:lvl9pPr algn="l"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100">
                <a:solidFill>
                  <a:srgbClr val="A9BEC1"/>
                </a:solidFill>
                <a:latin typeface="Arial"/>
                <a:ea typeface="Arial"/>
                <a:cs typeface="Arial"/>
              </a:rPr>
              <a:t>Python + JavaScript тесты.</a:t>
            </a:r>
            <a:endParaRPr sz="1100"/>
          </a:p>
          <a:p xmlns:a="http://schemas.openxmlformats.org/drawingml/2006/main">
            <a:pPr marL="0" indent="0" algn="l">
              <a:buNone/>
              <a:defRPr sz="1100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100">
                <a:solidFill>
                  <a:srgbClr val="A9BEC1"/>
                </a:solidFill>
                <a:latin typeface="Arial"/>
                <a:ea typeface="Arial"/>
                <a:cs typeface="Arial"/>
              </a:rPr>
              <a:t>CI на Windows, Linux и macOS.</a:t>
            </a:r>
            <a:endParaRPr sz="11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8AE8B9B-9127-4BDA-8A0D-50A5961B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099048"/>
            <a:ext cx="10515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defPPr>
            <a:lvl1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1pPr>
            <a:lvl2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2pPr>
            <a:lvl3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3pPr>
            <a:lvl4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4pPr>
            <a:lvl5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5pPr>
            <a:lvl6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6pPr>
            <a:lvl7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7pPr>
            <a:lvl8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8pPr>
            <a:lvl9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100" i="1">
                <a:solidFill>
                  <a:srgbClr val="A9BEC1"/>
                </a:solidFill>
                <a:latin typeface="Arial"/>
                <a:ea typeface="Arial"/>
                <a:cs typeface="Arial"/>
              </a:rPr>
              <a:t>Малая выборка, LOCAL ONNX CPU. Контроль отсутствия каски требует доработки. Это не оценка TPU.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8124638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E501187-F94B-4A48-9EC7-C58B9A73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519672"/>
            <a:ext cx="6400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 spc="100">
                <a:solidFill>
                  <a:srgbClr val="7E969D"/>
                </a:solidFill>
                <a:latin typeface="Arial"/>
                <a:ea typeface="Arial"/>
                <a:cs typeface="Arial"/>
              </a:rPr>
              <a:t>SAFE SIGHT / LINQ TPU</a:t>
            </a:r>
            <a:endParaRPr sz="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52750BC-2EC9-43EA-A9D1-D2CD5377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E969D"/>
                </a:solidFill>
                <a:latin typeface="Arial"/>
                <a:ea typeface="Arial"/>
                <a:cs typeface="Arial"/>
              </a:rPr>
              <a:t>09</a:t>
            </a:r>
            <a:endParaRPr sz="1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16759C4-FDDA-4D6A-AB17-67B1E1AF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5488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8333A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3B6048C-FBE8-4C90-B4B6-E9EA4A55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740664"/>
            <a:ext cx="109270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SafeSight уже решает практическую задачу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A26DAB0-C1BE-4A7D-95AE-E29C34C3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99032"/>
            <a:ext cx="107442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defPPr>
            <a:lvl1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1pPr>
            <a:lvl2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2pPr>
            <a:lvl3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3pPr>
            <a:lvl4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4pPr>
            <a:lvl5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5pPr>
            <a:lvl6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6pPr>
            <a:lvl7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7pPr>
            <a:lvl8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8pPr>
            <a:lvl9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A9BEC1"/>
                </a:solidFill>
                <a:latin typeface="Arial"/>
                <a:ea typeface="Arial"/>
                <a:cs typeface="Arial"/>
              </a:rPr>
              <a:t>Оператор получает событие с кадром, временем и результатом проверки.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9FB74AD-4126-48EB-A217-130B0481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965960"/>
            <a:ext cx="3429000" cy="2249424"/>
          </a:xfrm>
          <a:prstGeom xmlns:a="http://schemas.openxmlformats.org/drawingml/2006/main" prst="roundRect">
            <a:avLst>
              <a:gd name="adj" fmla="val 5285"/>
            </a:avLst>
          </a:prstGeom>
          <a:solidFill xmlns:a="http://schemas.openxmlformats.org/drawingml/2006/main">
            <a:srgbClr val="102129"/>
          </a:solidFill>
          <a:ln xmlns:a="http://schemas.openxmlformats.org/drawingml/2006/main" w="12700">
            <a:solidFill>
              <a:srgbClr val="2545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8731055-C59F-4257-AAF4-5C7D50C9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2203704"/>
            <a:ext cx="75895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76EDA7"/>
                </a:solidFill>
                <a:latin typeface="Arial"/>
                <a:ea typeface="Arial"/>
                <a:cs typeface="Arial"/>
              </a:rPr>
              <a:t>01</a:t>
            </a:r>
            <a:endParaRPr sz="2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6F5A5BF-20AF-4ADE-A65D-7DA7B8F7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2752344"/>
            <a:ext cx="2971800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Обнаружение</a:t>
            </a:r>
            <a:endParaRPr sz="2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CF3FFF8-CEF0-4808-B24A-50A7EB58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3383280"/>
            <a:ext cx="2852928" cy="557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00">
                <a:solidFill>
                  <a:srgbClr val="A9BEC1"/>
                </a:solidFill>
                <a:latin typeface="Arial"/>
                <a:ea typeface="Arial"/>
                <a:cs typeface="Arial"/>
              </a:defRPr>
            </a:defPPr>
            <a:lvl1pPr algn="l">
              <a:defRPr sz="13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1pPr>
            <a:lvl2pPr algn="l">
              <a:defRPr sz="13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2pPr>
            <a:lvl3pPr algn="l">
              <a:defRPr sz="13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3pPr>
            <a:lvl4pPr algn="l">
              <a:defRPr sz="13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4pPr>
            <a:lvl5pPr algn="l">
              <a:defRPr sz="13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5pPr>
            <a:lvl6pPr algn="l">
              <a:defRPr sz="13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6pPr>
            <a:lvl7pPr algn="l">
              <a:defRPr sz="13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7pPr>
            <a:lvl8pPr algn="l">
              <a:defRPr sz="13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8pPr>
            <a:lvl9pPr algn="l">
              <a:defRPr sz="13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300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300">
                <a:solidFill>
                  <a:srgbClr val="A9BEC1"/>
                </a:solidFill>
                <a:latin typeface="Arial"/>
                <a:ea typeface="Arial"/>
                <a:cs typeface="Arial"/>
              </a:rPr>
              <a:t>Детекция людей и проверка настроенной зоны</a:t>
            </a:r>
            <a:endParaRPr sz="13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2116400-E346-440A-AEA9-1C13CB1D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965960"/>
            <a:ext cx="3429000" cy="2249424"/>
          </a:xfrm>
          <a:prstGeom xmlns:a="http://schemas.openxmlformats.org/drawingml/2006/main" prst="roundRect">
            <a:avLst>
              <a:gd name="adj" fmla="val 5285"/>
            </a:avLst>
          </a:prstGeom>
          <a:solidFill xmlns:a="http://schemas.openxmlformats.org/drawingml/2006/main">
            <a:srgbClr val="102129"/>
          </a:solidFill>
          <a:ln xmlns:a="http://schemas.openxmlformats.org/drawingml/2006/main" w="12700">
            <a:solidFill>
              <a:srgbClr val="2545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14460FE-994D-43B4-8EAC-CF816CBF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2203704"/>
            <a:ext cx="75895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76EDA7"/>
                </a:solidFill>
                <a:latin typeface="Arial"/>
                <a:ea typeface="Arial"/>
                <a:cs typeface="Arial"/>
              </a:rPr>
              <a:t>02</a:t>
            </a:r>
            <a:endParaRPr sz="2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32DF28A-2F48-49DC-8E8E-98C399E3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2752344"/>
            <a:ext cx="2971800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Реакция</a:t>
            </a:r>
            <a:endParaRPr sz="2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745E0D1-BA1D-48CE-BD9D-16C192D4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3383280"/>
            <a:ext cx="2852928" cy="557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A9BEC1"/>
                </a:solidFill>
                <a:latin typeface="Arial"/>
                <a:ea typeface="Arial"/>
                <a:cs typeface="Arial"/>
              </a:rPr>
              <a:t>Одно предупреждение на эпизод</a:t>
            </a:r>
            <a:endParaRPr sz="13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B9063D6-BE4C-4698-8243-00CA66E9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965960"/>
            <a:ext cx="3429000" cy="2249424"/>
          </a:xfrm>
          <a:prstGeom xmlns:a="http://schemas.openxmlformats.org/drawingml/2006/main" prst="roundRect">
            <a:avLst>
              <a:gd name="adj" fmla="val 5285"/>
            </a:avLst>
          </a:prstGeom>
          <a:solidFill xmlns:a="http://schemas.openxmlformats.org/drawingml/2006/main">
            <a:srgbClr val="102129"/>
          </a:solidFill>
          <a:ln xmlns:a="http://schemas.openxmlformats.org/drawingml/2006/main" w="12700">
            <a:solidFill>
              <a:srgbClr val="76EDA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4B6861D-4940-4CEF-9FD1-8E97A790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2203704"/>
            <a:ext cx="75895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76EDA7"/>
                </a:solidFill>
                <a:latin typeface="Arial"/>
                <a:ea typeface="Arial"/>
                <a:cs typeface="Arial"/>
              </a:rPr>
              <a:t>03</a:t>
            </a:r>
            <a:endParaRPr sz="25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711B091-BDF5-455B-84C3-0A2DDC35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2752344"/>
            <a:ext cx="2971800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Доказательство</a:t>
            </a:r>
            <a:endParaRPr sz="2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570848A-DA76-4615-BA95-8B5B5B4D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3383280"/>
            <a:ext cx="2852928" cy="557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A9BEC1"/>
                </a:solidFill>
                <a:latin typeface="Arial"/>
                <a:ea typeface="Arial"/>
                <a:cs typeface="Arial"/>
              </a:rPr>
              <a:t>Снимок и запись в SQLite</a:t>
            </a:r>
            <a:endParaRPr sz="13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F8F46E6-BB2B-4BD5-B831-7B0875FA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700016"/>
            <a:ext cx="10213848" cy="777240"/>
          </a:xfrm>
          <a:prstGeom xmlns:a="http://schemas.openxmlformats.org/drawingml/2006/main" prst="roundRect">
            <a:avLst>
              <a:gd name="adj" fmla="val 15294"/>
            </a:avLst>
          </a:prstGeom>
          <a:solidFill xmlns:a="http://schemas.openxmlformats.org/drawingml/2006/main">
            <a:srgbClr val="14372B"/>
          </a:solidFill>
          <a:ln xmlns:a="http://schemas.openxmlformats.org/drawingml/2006/main" w="12700">
            <a:solidFill>
              <a:srgbClr val="327C5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2ADE8BB-3EC0-4F04-8347-B99917EE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4873752"/>
            <a:ext cx="961034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ctr">
              <a:buNone/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Демосценарий: зона, Warns и Backlog с доказательным кадром</a:t>
            </a:r>
            <a:endParaRPr sz="18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3A94EE8-6ADA-4500-8458-31041526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099048"/>
            <a:ext cx="10515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defPPr>
            <a:lvl1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1pPr>
            <a:lvl2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2pPr>
            <a:lvl3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3pPr>
            <a:lvl4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4pPr>
            <a:lvl5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5pPr>
            <a:lvl6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6pPr>
            <a:lvl7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7pPr>
            <a:lvl8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8pPr>
            <a:lvl9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100" i="1">
                <a:solidFill>
                  <a:srgbClr val="A9BEC1"/>
                </a:solidFill>
                <a:latin typeface="Arial"/>
                <a:ea typeface="Arial"/>
                <a:cs typeface="Arial"/>
              </a:rPr>
              <a:t>Следующий этап: валидация SafetyVision на видео площадки и парный ONNX/TPU тест.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986453483"/>
      </p:ext>
    </p:extLst>
  </p:cSld>
</p:sld>
</file>

<file path=ppt/slides/slide10.xml><?xml version="1.0" encoding="utf-8"?>
<p:sld xmlns:p="http://schemas.openxmlformats.org/presentationml/2006/main" show="0">
  <p:cSld>
    <p:bg>
      <p:bgPr>
        <a:solidFill xmlns:a="http://schemas.openxmlformats.org/drawingml/2006/main">
          <a:srgbClr val="06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95903DC-465D-4CD8-8965-DE9B3126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519672"/>
            <a:ext cx="6400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 spc="100">
                <a:solidFill>
                  <a:srgbClr val="7E969D"/>
                </a:solidFill>
                <a:latin typeface="Arial"/>
                <a:ea typeface="Arial"/>
                <a:cs typeface="Arial"/>
              </a:rPr>
              <a:t>SAFE SIGHT / LINQ TPU</a:t>
            </a:r>
            <a:endParaRPr sz="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15AE58B-C4AA-4A9B-92D2-C24660B7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E969D"/>
                </a:solidFill>
                <a:latin typeface="Arial"/>
                <a:ea typeface="Arial"/>
                <a:cs typeface="Arial"/>
              </a:rPr>
              <a:t>10</a:t>
            </a:r>
            <a:endParaRPr sz="1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B333EA1-7551-467F-ADF2-31C88F89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5488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8333A"/>
            </a:solidFill>
            <a:prstDash val="solid"/>
            <a:headEnd type="none"/>
            <a:tailEnd type="none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2DFB235-5E6C-4116-BE4A-0061DF42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740664"/>
            <a:ext cx="109270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30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Резерв / методика и границы измерений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14C7A45-8CF8-4D6D-B120-82CF227D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99032"/>
            <a:ext cx="107442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defPPr>
            <a:lvl1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1pPr>
            <a:lvl2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2pPr>
            <a:lvl3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3pPr>
            <a:lvl4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4pPr>
            <a:lvl5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5pPr>
            <a:lvl6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6pPr>
            <a:lvl7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7pPr>
            <a:lvl8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8pPr>
            <a:lvl9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A9BEC1"/>
                </a:solidFill>
                <a:latin typeface="Arial"/>
                <a:ea typeface="Arial"/>
                <a:cs typeface="Arial"/>
              </a:rPr>
              <a:t>Сырые рамки, IoU ≥ 0,5. Малая диагностика, не независимый промышленный benchmark.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B61199A-4C46-45B1-8E98-00A2A38B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10744200" cy="777240"/>
          </a:xfrm>
          <a:prstGeom xmlns:a="http://schemas.openxmlformats.org/drawingml/2006/main" prst="roundRect">
            <a:avLst>
              <a:gd name="adj" fmla="val 15294"/>
            </a:avLst>
          </a:prstGeom>
          <a:solidFill xmlns:a="http://schemas.openxmlformats.org/drawingml/2006/main">
            <a:srgbClr val="0D2526"/>
          </a:solidFill>
          <a:ln xmlns:a="http://schemas.openxmlformats.org/drawingml/2006/main" w="12700">
            <a:solidFill>
              <a:srgbClr val="102129">
                <a:alpha val="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BCE4454-77AC-4224-91BA-F32CD07B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084832"/>
            <a:ext cx="2450592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Люди / YOLOv8n</a:t>
            </a:r>
            <a:endParaRPr sz="18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99C3DFB-A891-496A-AB2D-69EAE6DE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2084832"/>
            <a:ext cx="2432304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defPPr>
            <a:lvl1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1pPr>
            <a:lvl2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2pPr>
            <a:lvl3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3pPr>
            <a:lvl4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4pPr>
            <a:lvl5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5pPr>
            <a:lvl6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6pPr>
            <a:lvl7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7pPr>
            <a:lvl8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8pPr>
            <a:lvl9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76EDA7"/>
                </a:solidFill>
                <a:latin typeface="Arial"/>
                <a:ea typeface="Arial"/>
                <a:cs typeface="Arial"/>
              </a:rPr>
              <a:t>F1 86,2%</a:t>
            </a:r>
            <a:endParaRPr sz="1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E12BBA0-FB54-4C94-9B14-F8387B4A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075688"/>
            <a:ext cx="4709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defPPr>
            <a:lvl1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1pPr>
            <a:lvl2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2pPr>
            <a:lvl3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3pPr>
            <a:lvl4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4pPr>
            <a:lvl5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5pPr>
            <a:lvl6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6pPr>
            <a:lvl7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7pPr>
            <a:lvl8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8pPr>
            <a:lvl9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A9BEC1"/>
                </a:solidFill>
                <a:latin typeface="Arial"/>
                <a:ea typeface="Arial"/>
                <a:cs typeface="Arial"/>
              </a:rPr>
              <a:t>P 92,6%, R 80,6%. TP/FP/FN: 25/2/6.</a:t>
            </a:r>
            <a:endParaRPr sz="1200"/>
          </a:p>
          <a:p xmlns:a="http://schemas.openxmlformats.org/drawingml/2006/main">
            <a:pPr marL="0" indent="0" algn="l">
              <a:buNone/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A9BEC1"/>
                </a:solidFill>
                <a:latin typeface="Arial"/>
                <a:ea typeface="Arial"/>
                <a:cs typeface="Arial"/>
              </a:rPr>
              <a:t>19 кадров с проверенной разметкой.</a:t>
            </a:r>
            <a:endParaRPr sz="12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558464D-F44E-46EE-95CD-6CAD6044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62072"/>
            <a:ext cx="10744200" cy="777240"/>
          </a:xfrm>
          <a:prstGeom xmlns:a="http://schemas.openxmlformats.org/drawingml/2006/main" prst="roundRect">
            <a:avLst>
              <a:gd name="adj" fmla="val 15294"/>
            </a:avLst>
          </a:prstGeom>
          <a:solidFill xmlns:a="http://schemas.openxmlformats.org/drawingml/2006/main">
            <a:srgbClr val="102129"/>
          </a:solidFill>
          <a:ln xmlns:a="http://schemas.openxmlformats.org/drawingml/2006/main" w="12700">
            <a:solidFill>
              <a:srgbClr val="102129">
                <a:alpha val="0"/>
              </a:srgbClr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68DDDC2-F2A7-4444-9CDF-03C7DA1A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026664"/>
            <a:ext cx="2450592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Падения / SV</a:t>
            </a:r>
            <a:endParaRPr sz="18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1D673EA-B91D-41F9-B5A9-F7639BE6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3026664"/>
            <a:ext cx="2432304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defPPr>
            <a:lvl1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1pPr>
            <a:lvl2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2pPr>
            <a:lvl3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3pPr>
            <a:lvl4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4pPr>
            <a:lvl5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5pPr>
            <a:lvl6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6pPr>
            <a:lvl7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7pPr>
            <a:lvl8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8pPr>
            <a:lvl9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76EDA7"/>
                </a:solidFill>
                <a:latin typeface="Arial"/>
                <a:ea typeface="Arial"/>
                <a:cs typeface="Arial"/>
              </a:rPr>
              <a:t>F1 88,9%</a:t>
            </a:r>
            <a:endParaRPr sz="19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A458ADC-E431-4EBE-87DC-A04C4CCE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017520"/>
            <a:ext cx="4709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defPPr>
            <a:lvl1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1pPr>
            <a:lvl2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2pPr>
            <a:lvl3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3pPr>
            <a:lvl4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4pPr>
            <a:lvl5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5pPr>
            <a:lvl6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6pPr>
            <a:lvl7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7pPr>
            <a:lvl8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8pPr>
            <a:lvl9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A9BEC1"/>
                </a:solidFill>
                <a:latin typeface="Arial"/>
                <a:ea typeface="Arial"/>
                <a:cs typeface="Arial"/>
              </a:rPr>
              <a:t>P 100%, R 80%. TP/FP/FN: 4/0/1.</a:t>
            </a:r>
            <a:endParaRPr sz="1200"/>
          </a:p>
          <a:p xmlns:a="http://schemas.openxmlformats.org/drawingml/2006/main">
            <a:pPr marL="0" indent="0" algn="l">
              <a:buNone/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A9BEC1"/>
                </a:solidFill>
                <a:latin typeface="Arial"/>
                <a:ea typeface="Arial"/>
                <a:cs typeface="Arial"/>
              </a:rPr>
              <a:t>10 кадров, 5 положительных случаев.</a:t>
            </a:r>
            <a:endParaRPr sz="12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4689146-40FD-4A26-92E0-3B30D16C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03904"/>
            <a:ext cx="10744200" cy="777240"/>
          </a:xfrm>
          <a:prstGeom xmlns:a="http://schemas.openxmlformats.org/drawingml/2006/main" prst="roundRect">
            <a:avLst>
              <a:gd name="adj" fmla="val 15294"/>
            </a:avLst>
          </a:prstGeom>
          <a:solidFill xmlns:a="http://schemas.openxmlformats.org/drawingml/2006/main">
            <a:srgbClr val="0D2526"/>
          </a:solidFill>
          <a:ln xmlns:a="http://schemas.openxmlformats.org/drawingml/2006/main" w="12700">
            <a:solidFill>
              <a:srgbClr val="102129">
                <a:alpha val="0"/>
              </a:srgbClr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5599527-F85C-4D9D-9431-17F4F707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968496"/>
            <a:ext cx="2450592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Наличие каски</a:t>
            </a:r>
            <a:endParaRPr sz="18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24C0773-2059-4F24-A0D5-84DCC793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3968496"/>
            <a:ext cx="2432304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defPPr>
            <a:lvl1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1pPr>
            <a:lvl2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2pPr>
            <a:lvl3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3pPr>
            <a:lvl4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4pPr>
            <a:lvl5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5pPr>
            <a:lvl6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6pPr>
            <a:lvl7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7pPr>
            <a:lvl8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8pPr>
            <a:lvl9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76EDA7"/>
                </a:solidFill>
                <a:latin typeface="Arial"/>
                <a:ea typeface="Arial"/>
                <a:cs typeface="Arial"/>
              </a:rPr>
              <a:t>P 100%</a:t>
            </a:r>
            <a:endParaRPr sz="19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DB74F91-DA37-4607-885C-2DAF7A5C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959352"/>
            <a:ext cx="4709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defPPr>
            <a:lvl1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1pPr>
            <a:lvl2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2pPr>
            <a:lvl3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3pPr>
            <a:lvl4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4pPr>
            <a:lvl5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5pPr>
            <a:lvl6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6pPr>
            <a:lvl7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7pPr>
            <a:lvl8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8pPr>
            <a:lvl9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A9BEC1"/>
                </a:solidFill>
                <a:latin typeface="Arial"/>
                <a:ea typeface="Arial"/>
                <a:cs typeface="Arial"/>
              </a:rPr>
              <a:t>R 80%, F1 88,9%. TP/FP/FN: 8/0/2.</a:t>
            </a:r>
            <a:endParaRPr sz="1200"/>
          </a:p>
          <a:p xmlns:a="http://schemas.openxmlformats.org/drawingml/2006/main">
            <a:pPr marL="0" indent="0" algn="l">
              <a:buNone/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A9BEC1"/>
                </a:solidFill>
                <a:latin typeface="Arial"/>
                <a:ea typeface="Arial"/>
                <a:cs typeface="Arial"/>
              </a:rPr>
              <a:t>Класс Hardhat, 10 кадров.</a:t>
            </a:r>
            <a:endParaRPr sz="12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A632B2D-F85F-4BC5-A7A1-193EFB35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745736"/>
            <a:ext cx="10744200" cy="777240"/>
          </a:xfrm>
          <a:prstGeom xmlns:a="http://schemas.openxmlformats.org/drawingml/2006/main" prst="roundRect">
            <a:avLst>
              <a:gd name="adj" fmla="val 15294"/>
            </a:avLst>
          </a:prstGeom>
          <a:solidFill xmlns:a="http://schemas.openxmlformats.org/drawingml/2006/main">
            <a:srgbClr val="102129"/>
          </a:solidFill>
          <a:ln xmlns:a="http://schemas.openxmlformats.org/drawingml/2006/main" w="12700">
            <a:solidFill>
              <a:srgbClr val="102129">
                <a:alpha val="0"/>
              </a:srgbClr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DE85366-9FBC-4444-8356-026E4554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910328"/>
            <a:ext cx="2450592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800" b="1">
                <a:solidFill>
                  <a:srgbClr val="F4FAF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Отсутствие каски</a:t>
            </a:r>
            <a:endParaRPr sz="18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E043A46-FDD6-4A2A-9048-4860F86E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4910328"/>
            <a:ext cx="2432304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defPPr>
            <a:lvl1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1pPr>
            <a:lvl2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2pPr>
            <a:lvl3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3pPr>
            <a:lvl4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4pPr>
            <a:lvl5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5pPr>
            <a:lvl6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6pPr>
            <a:lvl7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7pPr>
            <a:lvl8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8pPr>
            <a:lvl9pPr algn="l"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900" b="1">
                <a:solidFill>
                  <a:srgbClr val="76EDA7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76EDA7"/>
                </a:solidFill>
                <a:latin typeface="Arial"/>
                <a:ea typeface="Arial"/>
                <a:cs typeface="Arial"/>
              </a:rPr>
              <a:t>1/5 сцен</a:t>
            </a:r>
            <a:endParaRPr sz="19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B23FDF5-D481-4E14-870F-6257C81E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901184"/>
            <a:ext cx="4709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defPPr>
            <a:lvl1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1pPr>
            <a:lvl2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2pPr>
            <a:lvl3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3pPr>
            <a:lvl4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4pPr>
            <a:lvl5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5pPr>
            <a:lvl6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6pPr>
            <a:lvl7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7pPr>
            <a:lvl8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8pPr>
            <a:lvl9pPr algn="l"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A9BEC1"/>
                </a:solidFill>
                <a:latin typeface="Arial"/>
                <a:ea typeface="Arial"/>
                <a:cs typeface="Arial"/>
              </a:rPr>
              <a:t>Наличие класса на фото. Строгие рамки:</a:t>
            </a:r>
            <a:endParaRPr sz="1200"/>
          </a:p>
          <a:p xmlns:a="http://schemas.openxmlformats.org/drawingml/2006/main">
            <a:pPr marL="0" indent="0" algn="l">
              <a:buNone/>
              <a:defRPr sz="1200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A9BEC1"/>
                </a:solidFill>
                <a:latin typeface="Arial"/>
                <a:ea typeface="Arial"/>
                <a:cs typeface="Arial"/>
              </a:rPr>
              <a:t>TP/FP/FN: 0/1/12. Требуется доработка.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994B152-1540-4C3E-A5F0-72E4D59D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099048"/>
            <a:ext cx="10515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defPPr>
            <a:lvl1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1pPr>
            <a:lvl2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2pPr>
            <a:lvl3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3pPr>
            <a:lvl4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4pPr>
            <a:lvl5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5pPr>
            <a:lvl6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6pPr>
            <a:lvl7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7pPr>
            <a:lvl8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8pPr>
            <a:lvl9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100" i="1">
                <a:solidFill>
                  <a:srgbClr val="A9BEC1"/>
                </a:solidFill>
                <a:latin typeface="Arial"/>
                <a:ea typeface="Arial"/>
                <a:cs typeface="Arial"/>
              </a:rPr>
              <a:t>Источник: docs/INTERNET20_RESULTS.md. Результаты ONNX не подменяют аппаратный тест и видеотревоги.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350306572"/>
      </p:ext>
    </p:extLst>
  </p:cSld>
</p:sld>
</file>

<file path=ppt/slides/slide11.xml><?xml version="1.0" encoding="utf-8"?>
<p:sld xmlns:p="http://schemas.openxmlformats.org/presentationml/2006/main" show="0">
  <p:cSld>
    <p:bg>
      <p:bgPr>
        <a:solidFill xmlns:a="http://schemas.openxmlformats.org/drawingml/2006/main">
          <a:srgbClr val="06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4656610-2DF6-48B7-B058-44D76182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519672"/>
            <a:ext cx="6400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 spc="100">
                <a:solidFill>
                  <a:srgbClr val="7E969D"/>
                </a:solidFill>
                <a:latin typeface="Arial"/>
                <a:ea typeface="Arial"/>
                <a:cs typeface="Arial"/>
              </a:rPr>
              <a:t>SAFE SIGHT / LINQ TPU</a:t>
            </a:r>
            <a:endParaRPr sz="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AE755A4-D412-41D3-8CCE-D7D6F3B2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E969D"/>
                </a:solidFill>
                <a:latin typeface="Arial"/>
                <a:ea typeface="Arial"/>
                <a:cs typeface="Arial"/>
              </a:rPr>
              <a:t>11</a:t>
            </a:r>
            <a:endParaRPr sz="1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BF4270F-BF99-4A26-8D62-9BD74D95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5488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8333A"/>
            </a:solidFill>
            <a:prstDash val="solid"/>
            <a:headEnd type="none"/>
            <a:tailEnd type="none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078CB70-346A-4403-AF14-74DF3FDA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740664"/>
            <a:ext cx="109270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rgbClr val="F4FAF8"/>
                </a:solidFill>
                <a:latin typeface="Arial"/>
                <a:ea typeface="Arial"/>
                <a:cs typeface="Arial"/>
              </a:rPr>
              <a:t>Резерв / эксплуатация и ограничения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39DF6CE-494C-4253-8C94-DAC2EDEA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99032"/>
            <a:ext cx="107442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defPPr>
            <a:lvl1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1pPr>
            <a:lvl2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2pPr>
            <a:lvl3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3pPr>
            <a:lvl4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4pPr>
            <a:lvl5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5pPr>
            <a:lvl6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6pPr>
            <a:lvl7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7pPr>
            <a:lvl8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8pPr>
            <a:lvl9pPr algn="l"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400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A9BEC1"/>
                </a:solidFill>
                <a:latin typeface="Arial"/>
                <a:ea typeface="Arial"/>
                <a:cs typeface="Arial"/>
              </a:rPr>
              <a:t>Инструкции запуска, доступность аппаратного контура и границы пилота.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C9A6779-97A5-4117-867A-3EF71378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01952"/>
            <a:ext cx="5285232" cy="1453896"/>
          </a:xfrm>
          <a:prstGeom xmlns:a="http://schemas.openxmlformats.org/drawingml/2006/main" prst="roundRect">
            <a:avLst>
              <a:gd name="adj" fmla="val 8176"/>
            </a:avLst>
          </a:prstGeom>
          <a:solidFill xmlns:a="http://schemas.openxmlformats.org/drawingml/2006/main">
            <a:srgbClr val="102129"/>
          </a:solidFill>
          <a:ln xmlns:a="http://schemas.openxmlformats.org/drawingml/2006/main" w="12700">
            <a:solidFill>
              <a:srgbClr val="102129">
                <a:alpha val="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C3114B0-E160-4564-ACCD-AF9685D1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21408"/>
            <a:ext cx="43891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spc="130">
                <a:solidFill>
                  <a:srgbClr val="76EDA7"/>
                </a:solidFill>
                <a:latin typeface="Arial"/>
                <a:ea typeface="Arial"/>
                <a:cs typeface="Arial"/>
              </a:rPr>
              <a:t>ИНСТАЛЛЯЦИЯ</a:t>
            </a:r>
            <a:endParaRPr sz="1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EDDAF1B-7D5B-4D66-A2C0-94872306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2523744"/>
            <a:ext cx="474573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defPPr>
            <a:lvl1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lvl1pPr>
            <a:lvl2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lvl2pPr>
            <a:lvl3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lvl3pPr>
            <a:lvl4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lvl4pPr>
            <a:lvl5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lvl5pPr>
            <a:lvl6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lvl6pPr>
            <a:lvl7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lvl7pPr>
            <a:lvl8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lvl8pPr>
            <a:lvl9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F4FAF8"/>
                </a:solidFill>
                <a:latin typeface="Arial"/>
                <a:ea typeface="Arial"/>
                <a:cs typeface="Arial"/>
              </a:rPr>
              <a:t>Windows Web, VPN и два Gateway.</a:t>
            </a:r>
            <a:endParaRPr sz="1600"/>
          </a:p>
          <a:p xmlns:a="http://schemas.openxmlformats.org/drawingml/2006/main">
            <a:pPr marL="0" indent="0" algn="l">
              <a:buNone/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F4FAF8"/>
                </a:solidFill>
                <a:latin typeface="Arial"/>
                <a:ea typeface="Arial"/>
                <a:cs typeface="Arial"/>
              </a:rPr>
              <a:t>Маршруты берём из GATEWAY READY.</a:t>
            </a:r>
            <a:endParaRPr sz="16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248AD50-53B8-4655-BBDE-CB096A83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901952"/>
            <a:ext cx="5285232" cy="1453896"/>
          </a:xfrm>
          <a:prstGeom xmlns:a="http://schemas.openxmlformats.org/drawingml/2006/main" prst="roundRect">
            <a:avLst>
              <a:gd name="adj" fmla="val 8176"/>
            </a:avLst>
          </a:prstGeom>
          <a:solidFill xmlns:a="http://schemas.openxmlformats.org/drawingml/2006/main">
            <a:srgbClr val="102129"/>
          </a:solidFill>
          <a:ln xmlns:a="http://schemas.openxmlformats.org/drawingml/2006/main" w="12700">
            <a:solidFill>
              <a:srgbClr val="102129">
                <a:alpha val="0"/>
              </a:srgbClr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CA4B124-CB6B-4CFC-B630-DC2D229D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2121408"/>
            <a:ext cx="43891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spc="130">
                <a:solidFill>
                  <a:srgbClr val="76EDA7"/>
                </a:solidFill>
                <a:latin typeface="Arial"/>
                <a:ea typeface="Arial"/>
                <a:cs typeface="Arial"/>
              </a:rPr>
              <a:t>АРХИВ ИНЦИДЕНТОВ</a:t>
            </a:r>
            <a:endParaRPr sz="1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2798E6F-11E8-4172-A2E4-E9BBAFCD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523744"/>
            <a:ext cx="474573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defPPr>
            <a:lvl1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lvl1pPr>
            <a:lvl2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lvl2pPr>
            <a:lvl3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lvl3pPr>
            <a:lvl4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lvl4pPr>
            <a:lvl5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lvl5pPr>
            <a:lvl6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lvl6pPr>
            <a:lvl7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lvl7pPr>
            <a:lvl8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lvl8pPr>
            <a:lvl9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F4FAF8"/>
                </a:solidFill>
                <a:latin typeface="Arial"/>
                <a:ea typeface="Arial"/>
                <a:cs typeface="Arial"/>
              </a:rPr>
              <a:t>SQLite, JPEG и дисковая очередь записи.</a:t>
            </a:r>
            <a:endParaRPr sz="1600"/>
          </a:p>
          <a:p xmlns:a="http://schemas.openxmlformats.org/drawingml/2006/main">
            <a:pPr marL="0" indent="0" algn="l">
              <a:buNone/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F4FAF8"/>
                </a:solidFill>
                <a:latin typeface="Arial"/>
                <a:ea typeface="Arial"/>
                <a:cs typeface="Arial"/>
              </a:rPr>
              <a:t>Отдельная история операторских решений.</a:t>
            </a:r>
            <a:endParaRPr sz="16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4ABFE2C-6400-4C9D-91B7-35DCE54D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593592"/>
            <a:ext cx="5285232" cy="1453896"/>
          </a:xfrm>
          <a:prstGeom xmlns:a="http://schemas.openxmlformats.org/drawingml/2006/main" prst="roundRect">
            <a:avLst>
              <a:gd name="adj" fmla="val 8176"/>
            </a:avLst>
          </a:prstGeom>
          <a:solidFill xmlns:a="http://schemas.openxmlformats.org/drawingml/2006/main">
            <a:srgbClr val="102129"/>
          </a:solidFill>
          <a:ln xmlns:a="http://schemas.openxmlformats.org/drawingml/2006/main" w="12700">
            <a:solidFill>
              <a:srgbClr val="102129">
                <a:alpha val="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381F6AF-D486-420E-B3D0-6D708A00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13048"/>
            <a:ext cx="43891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spc="130">
                <a:solidFill>
                  <a:srgbClr val="76EDA7"/>
                </a:solidFill>
                <a:latin typeface="Arial"/>
                <a:ea typeface="Arial"/>
                <a:cs typeface="Arial"/>
              </a:rPr>
              <a:t>НАДЁЖНОСТЬ</a:t>
            </a:r>
            <a:endParaRPr sz="1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D0C8FDD-DD69-4DE5-8B91-7E58ADFC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215384"/>
            <a:ext cx="474573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defPPr>
            <a:lvl1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lvl1pPr>
            <a:lvl2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lvl2pPr>
            <a:lvl3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lvl3pPr>
            <a:lvl4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lvl4pPr>
            <a:lvl5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lvl5pPr>
            <a:lvl6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lvl6pPr>
            <a:lvl7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lvl7pPr>
            <a:lvl8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lvl8pPr>
            <a:lvl9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F4FAF8"/>
                </a:solidFill>
                <a:latin typeface="Arial"/>
                <a:ea typeface="Arial"/>
                <a:cs typeface="Arial"/>
              </a:rPr>
              <a:t>Видео независимо от инференса.</a:t>
            </a:r>
            <a:endParaRPr sz="1600"/>
          </a:p>
          <a:p xmlns:a="http://schemas.openxmlformats.org/drawingml/2006/main">
            <a:pPr marL="0" indent="0" algn="l">
              <a:buNone/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F4FAF8"/>
                </a:solidFill>
                <a:latin typeface="Arial"/>
                <a:ea typeface="Arial"/>
                <a:cs typeface="Arial"/>
              </a:rPr>
              <a:t>DEMO явно помечен при отсутствии TPU.</a:t>
            </a:r>
            <a:endParaRPr sz="16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4B3BE87-0E7B-4247-8B51-F18EDAEF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3593592"/>
            <a:ext cx="5285232" cy="1453896"/>
          </a:xfrm>
          <a:prstGeom xmlns:a="http://schemas.openxmlformats.org/drawingml/2006/main" prst="roundRect">
            <a:avLst>
              <a:gd name="adj" fmla="val 8176"/>
            </a:avLst>
          </a:prstGeom>
          <a:solidFill xmlns:a="http://schemas.openxmlformats.org/drawingml/2006/main">
            <a:srgbClr val="102129"/>
          </a:solidFill>
          <a:ln xmlns:a="http://schemas.openxmlformats.org/drawingml/2006/main" w="12700">
            <a:solidFill>
              <a:srgbClr val="102129">
                <a:alpha val="0"/>
              </a:srgbClr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A1C0A34-ECDE-4328-804D-F2771C22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813048"/>
            <a:ext cx="43891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spc="130">
                <a:solidFill>
                  <a:srgbClr val="76EDA7"/>
                </a:solidFill>
                <a:latin typeface="Arial"/>
                <a:ea typeface="Arial"/>
                <a:cs typeface="Arial"/>
              </a:rPr>
              <a:t>ГРАНИЦЫ MVP</a:t>
            </a:r>
            <a:endParaRPr sz="10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B3B2C80-6E6C-43D2-BCB3-F0CFE7EA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4215384"/>
            <a:ext cx="474573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defPPr>
            <a:lvl1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lvl1pPr>
            <a:lvl2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lvl2pPr>
            <a:lvl3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lvl3pPr>
            <a:lvl4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lvl4pPr>
            <a:lvl5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lvl5pPr>
            <a:lvl6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lvl6pPr>
            <a:lvl7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lvl7pPr>
            <a:lvl8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lvl8pPr>
            <a:lvl9pPr algn="l"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F4FAF8"/>
                </a:solidFill>
                <a:latin typeface="Arial"/>
                <a:ea typeface="Arial"/>
                <a:cs typeface="Arial"/>
              </a:rPr>
              <a:t>Каски и падения требуют видео-теста.</a:t>
            </a:r>
            <a:endParaRPr sz="1600"/>
          </a:p>
          <a:p xmlns:a="http://schemas.openxmlformats.org/drawingml/2006/main">
            <a:pPr marL="0" indent="0" algn="l">
              <a:buNone/>
              <a:defRPr sz="1600">
                <a:solidFill>
                  <a:srgbClr val="F4FAF8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F4FAF8"/>
                </a:solidFill>
                <a:latin typeface="Arial"/>
                <a:ea typeface="Arial"/>
                <a:cs typeface="Arial"/>
              </a:rPr>
              <a:t>Нет промышленной сертификации.</a:t>
            </a:r>
            <a:endParaRPr sz="16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86BA00E-CBF2-4812-A864-9427D389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099048"/>
            <a:ext cx="10515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defPPr>
            <a:lvl1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1pPr>
            <a:lvl2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2pPr>
            <a:lvl3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3pPr>
            <a:lvl4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4pPr>
            <a:lvl5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5pPr>
            <a:lvl6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6pPr>
            <a:lvl7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7pPr>
            <a:lvl8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8pPr>
            <a:lvl9pPr algn="l"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100" i="1">
                <a:solidFill>
                  <a:srgbClr val="A9BEC1"/>
                </a:solidFill>
                <a:latin typeface="Arial"/>
                <a:ea typeface="Arial"/>
                <a:cs typeface="Arial"/>
              </a:defRPr>
            </a:pPr>
            <a:r>
              <a:rPr sz="1100" i="1">
                <a:solidFill>
                  <a:srgbClr val="A9BEC1"/>
                </a:solidFill>
                <a:latin typeface="Arial"/>
                <a:ea typeface="Arial"/>
                <a:cs typeface="Arial"/>
              </a:rPr>
              <a:t>Запуск и проверка: docs/RUNBOOK.md и docs/READINESS.md. Перед показом проверить режим и AMQP.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89764114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2026-10-25T06:14:29.8100000Z</dcterms:created>
  <dcterms:modified xsi:type="dcterms:W3CDTF">2026-10-25T06:14:29.8100000Z</dcterms:modified>
</coreProperties>
</file>